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9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9144000" cy="5143500" type="screen16x9"/>
  <p:notesSz cx="6858000" cy="9144000"/>
  <p:embeddedFontLst>
    <p:embeddedFont>
      <p:font typeface="Albert Sans" panose="020B0604020202020204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Viaoda Libre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AF8D50-04FD-4DD2-8042-88534094CE2B}" v="26" dt="2026-07-08T09:27:42.117"/>
  </p1510:revLst>
</p1510:revInfo>
</file>

<file path=ppt/tableStyles.xml><?xml version="1.0" encoding="utf-8"?>
<a:tblStyleLst xmlns:a="http://schemas.openxmlformats.org/drawingml/2006/main" def="{B521D955-1A6E-4D15-B88D-BD15677DF0F3}">
  <a:tblStyle styleId="{B521D955-1A6E-4D15-B88D-BD15677DF0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an Robiantono" userId="8830a521f4abf2dc" providerId="LiveId" clId="{3B352B0B-1755-4DCA-8992-006C4E3C8B7F}"/>
    <pc:docChg chg="undo custSel addSld delSld modSld delMainMaster">
      <pc:chgData name="Ronnan Robiantono" userId="8830a521f4abf2dc" providerId="LiveId" clId="{3B352B0B-1755-4DCA-8992-006C4E3C8B7F}" dt="2026-07-08T09:28:53.445" v="150" actId="47"/>
      <pc:docMkLst>
        <pc:docMk/>
      </pc:docMkLst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57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58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0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1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2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3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4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5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6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7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8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69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0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1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2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3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4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5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6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7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8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79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0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1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2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3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4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5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6"/>
        </pc:sldMkLst>
      </pc:sldChg>
      <pc:sldChg chg="del">
        <pc:chgData name="Ronnan Robiantono" userId="8830a521f4abf2dc" providerId="LiveId" clId="{3B352B0B-1755-4DCA-8992-006C4E3C8B7F}" dt="2026-07-08T09:28:53.445" v="150" actId="47"/>
        <pc:sldMkLst>
          <pc:docMk/>
          <pc:sldMk cId="0" sldId="287"/>
        </pc:sldMkLst>
      </pc:sldChg>
      <pc:sldChg chg="delSp modSp add mod">
        <pc:chgData name="Ronnan Robiantono" userId="8830a521f4abf2dc" providerId="LiveId" clId="{3B352B0B-1755-4DCA-8992-006C4E3C8B7F}" dt="2026-07-08T09:16:34.491" v="23" actId="255"/>
        <pc:sldMkLst>
          <pc:docMk/>
          <pc:sldMk cId="2979565894" sldId="290"/>
        </pc:sldMkLst>
        <pc:spChg chg="mod">
          <ac:chgData name="Ronnan Robiantono" userId="8830a521f4abf2dc" providerId="LiveId" clId="{3B352B0B-1755-4DCA-8992-006C4E3C8B7F}" dt="2026-07-08T09:16:34.491" v="23" actId="255"/>
          <ac:spMkLst>
            <pc:docMk/>
            <pc:sldMk cId="2979565894" sldId="290"/>
            <ac:spMk id="182" creationId="{831C42DC-9C12-9758-37AA-C03C9139FB7F}"/>
          </ac:spMkLst>
        </pc:spChg>
        <pc:spChg chg="mod">
          <ac:chgData name="Ronnan Robiantono" userId="8830a521f4abf2dc" providerId="LiveId" clId="{3B352B0B-1755-4DCA-8992-006C4E3C8B7F}" dt="2026-07-08T09:15:25.270" v="2"/>
          <ac:spMkLst>
            <pc:docMk/>
            <pc:sldMk cId="2979565894" sldId="290"/>
            <ac:spMk id="183" creationId="{59298222-28B1-A2E8-55FF-FFE37D97A35D}"/>
          </ac:spMkLst>
        </pc:spChg>
        <pc:graphicFrameChg chg="del">
          <ac:chgData name="Ronnan Robiantono" userId="8830a521f4abf2dc" providerId="LiveId" clId="{3B352B0B-1755-4DCA-8992-006C4E3C8B7F}" dt="2026-07-08T09:15:15.684" v="1" actId="478"/>
          <ac:graphicFrameMkLst>
            <pc:docMk/>
            <pc:sldMk cId="2979565894" sldId="290"/>
            <ac:graphicFrameMk id="5" creationId="{CC3A94C6-C509-BC51-2777-91AF5A6838F3}"/>
          </ac:graphicFrameMkLst>
        </pc:graphicFrameChg>
      </pc:sldChg>
      <pc:sldChg chg="modSp add mod">
        <pc:chgData name="Ronnan Robiantono" userId="8830a521f4abf2dc" providerId="LiveId" clId="{3B352B0B-1755-4DCA-8992-006C4E3C8B7F}" dt="2026-07-08T09:17:42.999" v="33" actId="20577"/>
        <pc:sldMkLst>
          <pc:docMk/>
          <pc:sldMk cId="1600198060" sldId="291"/>
        </pc:sldMkLst>
        <pc:spChg chg="mod">
          <ac:chgData name="Ronnan Robiantono" userId="8830a521f4abf2dc" providerId="LiveId" clId="{3B352B0B-1755-4DCA-8992-006C4E3C8B7F}" dt="2026-07-08T09:17:42.999" v="33" actId="20577"/>
          <ac:spMkLst>
            <pc:docMk/>
            <pc:sldMk cId="1600198060" sldId="291"/>
            <ac:spMk id="182" creationId="{5129F0EF-DA30-E9F5-1EB6-7F70A41F489C}"/>
          </ac:spMkLst>
        </pc:spChg>
        <pc:spChg chg="mod">
          <ac:chgData name="Ronnan Robiantono" userId="8830a521f4abf2dc" providerId="LiveId" clId="{3B352B0B-1755-4DCA-8992-006C4E3C8B7F}" dt="2026-07-08T09:17:04.889" v="25"/>
          <ac:spMkLst>
            <pc:docMk/>
            <pc:sldMk cId="1600198060" sldId="291"/>
            <ac:spMk id="183" creationId="{27ED6AE9-20C3-F21C-B964-FDE8FD273029}"/>
          </ac:spMkLst>
        </pc:spChg>
      </pc:sldChg>
      <pc:sldChg chg="addSp delSp modSp add mod">
        <pc:chgData name="Ronnan Robiantono" userId="8830a521f4abf2dc" providerId="LiveId" clId="{3B352B0B-1755-4DCA-8992-006C4E3C8B7F}" dt="2026-07-08T09:22:44.258" v="92" actId="20577"/>
        <pc:sldMkLst>
          <pc:docMk/>
          <pc:sldMk cId="332098459" sldId="292"/>
        </pc:sldMkLst>
        <pc:spChg chg="add">
          <ac:chgData name="Ronnan Robiantono" userId="8830a521f4abf2dc" providerId="LiveId" clId="{3B352B0B-1755-4DCA-8992-006C4E3C8B7F}" dt="2026-07-08T09:19:28.866" v="53"/>
          <ac:spMkLst>
            <pc:docMk/>
            <pc:sldMk cId="332098459" sldId="292"/>
            <ac:spMk id="4" creationId="{9FF4F48B-C5A1-67F9-DC38-AF7C3F0E4A75}"/>
          </ac:spMkLst>
        </pc:spChg>
        <pc:spChg chg="add">
          <ac:chgData name="Ronnan Robiantono" userId="8830a521f4abf2dc" providerId="LiveId" clId="{3B352B0B-1755-4DCA-8992-006C4E3C8B7F}" dt="2026-07-08T09:19:51.711" v="62"/>
          <ac:spMkLst>
            <pc:docMk/>
            <pc:sldMk cId="332098459" sldId="292"/>
            <ac:spMk id="7" creationId="{D1552F55-7DE1-1998-6B37-4E8C63985233}"/>
          </ac:spMkLst>
        </pc:spChg>
        <pc:spChg chg="add mod">
          <ac:chgData name="Ronnan Robiantono" userId="8830a521f4abf2dc" providerId="LiveId" clId="{3B352B0B-1755-4DCA-8992-006C4E3C8B7F}" dt="2026-07-08T09:22:44.258" v="92" actId="20577"/>
          <ac:spMkLst>
            <pc:docMk/>
            <pc:sldMk cId="332098459" sldId="292"/>
            <ac:spMk id="9" creationId="{A867CC61-D673-BAE6-8EE8-9D3DEDCFD638}"/>
          </ac:spMkLst>
        </pc:spChg>
        <pc:spChg chg="mod">
          <ac:chgData name="Ronnan Robiantono" userId="8830a521f4abf2dc" providerId="LiveId" clId="{3B352B0B-1755-4DCA-8992-006C4E3C8B7F}" dt="2026-07-08T09:22:01.447" v="85" actId="1076"/>
          <ac:spMkLst>
            <pc:docMk/>
            <pc:sldMk cId="332098459" sldId="292"/>
            <ac:spMk id="182" creationId="{3B81BC0D-4996-2C3A-27C4-452BC3D8CB16}"/>
          </ac:spMkLst>
        </pc:spChg>
        <pc:spChg chg="mod">
          <ac:chgData name="Ronnan Robiantono" userId="8830a521f4abf2dc" providerId="LiveId" clId="{3B352B0B-1755-4DCA-8992-006C4E3C8B7F}" dt="2026-07-08T09:19:40.659" v="58" actId="20577"/>
          <ac:spMkLst>
            <pc:docMk/>
            <pc:sldMk cId="332098459" sldId="292"/>
            <ac:spMk id="183" creationId="{B7269D8F-AA9A-FADC-7005-2903FF5838DD}"/>
          </ac:spMkLst>
        </pc:spChg>
        <pc:graphicFrameChg chg="add del mod">
          <ac:chgData name="Ronnan Robiantono" userId="8830a521f4abf2dc" providerId="LiveId" clId="{3B352B0B-1755-4DCA-8992-006C4E3C8B7F}" dt="2026-07-08T09:20:04.462" v="66" actId="478"/>
          <ac:graphicFrameMkLst>
            <pc:docMk/>
            <pc:sldMk cId="332098459" sldId="292"/>
            <ac:graphicFrameMk id="2" creationId="{66C18C92-137F-D786-CF7C-EE398FA730CF}"/>
          </ac:graphicFrameMkLst>
        </pc:graphicFrameChg>
        <pc:graphicFrameChg chg="add del mod">
          <ac:chgData name="Ronnan Robiantono" userId="8830a521f4abf2dc" providerId="LiveId" clId="{3B352B0B-1755-4DCA-8992-006C4E3C8B7F}" dt="2026-07-08T09:20:01.456" v="65" actId="478"/>
          <ac:graphicFrameMkLst>
            <pc:docMk/>
            <pc:sldMk cId="332098459" sldId="292"/>
            <ac:graphicFrameMk id="5" creationId="{FFD82378-4377-34CB-A445-EBC201899853}"/>
          </ac:graphicFrameMkLst>
        </pc:graphicFrameChg>
        <pc:graphicFrameChg chg="add mod modGraphic">
          <ac:chgData name="Ronnan Robiantono" userId="8830a521f4abf2dc" providerId="LiveId" clId="{3B352B0B-1755-4DCA-8992-006C4E3C8B7F}" dt="2026-07-08T09:22:05.506" v="86" actId="1076"/>
          <ac:graphicFrameMkLst>
            <pc:docMk/>
            <pc:sldMk cId="332098459" sldId="292"/>
            <ac:graphicFrameMk id="8" creationId="{D2927692-8DB4-AB4A-3565-25599A377823}"/>
          </ac:graphicFrameMkLst>
        </pc:graphicFrameChg>
      </pc:sldChg>
      <pc:sldChg chg="addSp delSp modSp add mod">
        <pc:chgData name="Ronnan Robiantono" userId="8830a521f4abf2dc" providerId="LiveId" clId="{3B352B0B-1755-4DCA-8992-006C4E3C8B7F}" dt="2026-07-08T09:24:52.155" v="114" actId="478"/>
        <pc:sldMkLst>
          <pc:docMk/>
          <pc:sldMk cId="146555064" sldId="293"/>
        </pc:sldMkLst>
        <pc:spChg chg="add del mod">
          <ac:chgData name="Ronnan Robiantono" userId="8830a521f4abf2dc" providerId="LiveId" clId="{3B352B0B-1755-4DCA-8992-006C4E3C8B7F}" dt="2026-07-08T09:23:37.087" v="98" actId="478"/>
          <ac:spMkLst>
            <pc:docMk/>
            <pc:sldMk cId="146555064" sldId="293"/>
            <ac:spMk id="3" creationId="{F972D5A4-5EB1-6D53-887A-4BAC7F75C280}"/>
          </ac:spMkLst>
        </pc:spChg>
        <pc:spChg chg="add del">
          <ac:chgData name="Ronnan Robiantono" userId="8830a521f4abf2dc" providerId="LiveId" clId="{3B352B0B-1755-4DCA-8992-006C4E3C8B7F}" dt="2026-07-08T09:24:52.155" v="114" actId="478"/>
          <ac:spMkLst>
            <pc:docMk/>
            <pc:sldMk cId="146555064" sldId="293"/>
            <ac:spMk id="5" creationId="{49360A16-4E63-0CDA-9E78-684FF0D3271F}"/>
          </ac:spMkLst>
        </pc:spChg>
        <pc:spChg chg="mod">
          <ac:chgData name="Ronnan Robiantono" userId="8830a521f4abf2dc" providerId="LiveId" clId="{3B352B0B-1755-4DCA-8992-006C4E3C8B7F}" dt="2026-07-08T09:24:42.326" v="111" actId="20577"/>
          <ac:spMkLst>
            <pc:docMk/>
            <pc:sldMk cId="146555064" sldId="293"/>
            <ac:spMk id="9" creationId="{465E2B20-A458-4368-4AE6-E36FB1471CE9}"/>
          </ac:spMkLst>
        </pc:spChg>
        <pc:spChg chg="del">
          <ac:chgData name="Ronnan Robiantono" userId="8830a521f4abf2dc" providerId="LiveId" clId="{3B352B0B-1755-4DCA-8992-006C4E3C8B7F}" dt="2026-07-08T09:23:28.047" v="96" actId="478"/>
          <ac:spMkLst>
            <pc:docMk/>
            <pc:sldMk cId="146555064" sldId="293"/>
            <ac:spMk id="182" creationId="{505507F3-848C-B966-EC83-C6CE237D6D38}"/>
          </ac:spMkLst>
        </pc:spChg>
        <pc:spChg chg="mod">
          <ac:chgData name="Ronnan Robiantono" userId="8830a521f4abf2dc" providerId="LiveId" clId="{3B352B0B-1755-4DCA-8992-006C4E3C8B7F}" dt="2026-07-08T09:23:10.313" v="94"/>
          <ac:spMkLst>
            <pc:docMk/>
            <pc:sldMk cId="146555064" sldId="293"/>
            <ac:spMk id="183" creationId="{96510A4E-B618-4455-5C77-9D5E2CFF3824}"/>
          </ac:spMkLst>
        </pc:spChg>
        <pc:graphicFrameChg chg="del">
          <ac:chgData name="Ronnan Robiantono" userId="8830a521f4abf2dc" providerId="LiveId" clId="{3B352B0B-1755-4DCA-8992-006C4E3C8B7F}" dt="2026-07-08T09:23:31.714" v="97" actId="478"/>
          <ac:graphicFrameMkLst>
            <pc:docMk/>
            <pc:sldMk cId="146555064" sldId="293"/>
            <ac:graphicFrameMk id="8" creationId="{20EC05C8-32DC-126F-A129-53887565400C}"/>
          </ac:graphicFrameMkLst>
        </pc:graphicFrameChg>
      </pc:sldChg>
      <pc:sldChg chg="addSp modSp add mod">
        <pc:chgData name="Ronnan Robiantono" userId="8830a521f4abf2dc" providerId="LiveId" clId="{3B352B0B-1755-4DCA-8992-006C4E3C8B7F}" dt="2026-07-08T09:26:56.264" v="133" actId="113"/>
        <pc:sldMkLst>
          <pc:docMk/>
          <pc:sldMk cId="2280422379" sldId="294"/>
        </pc:sldMkLst>
        <pc:spChg chg="add mod">
          <ac:chgData name="Ronnan Robiantono" userId="8830a521f4abf2dc" providerId="LiveId" clId="{3B352B0B-1755-4DCA-8992-006C4E3C8B7F}" dt="2026-07-08T09:26:56.264" v="133" actId="113"/>
          <ac:spMkLst>
            <pc:docMk/>
            <pc:sldMk cId="2280422379" sldId="294"/>
            <ac:spMk id="4" creationId="{7EF7370C-9618-B726-C118-021334358B4B}"/>
          </ac:spMkLst>
        </pc:spChg>
        <pc:spChg chg="mod">
          <ac:chgData name="Ronnan Robiantono" userId="8830a521f4abf2dc" providerId="LiveId" clId="{3B352B0B-1755-4DCA-8992-006C4E3C8B7F}" dt="2026-07-08T09:25:41.519" v="121" actId="14100"/>
          <ac:spMkLst>
            <pc:docMk/>
            <pc:sldMk cId="2280422379" sldId="294"/>
            <ac:spMk id="9" creationId="{67E1F19A-CEEE-F0C9-01BE-BF83947A0482}"/>
          </ac:spMkLst>
        </pc:spChg>
        <pc:spChg chg="mod">
          <ac:chgData name="Ronnan Robiantono" userId="8830a521f4abf2dc" providerId="LiveId" clId="{3B352B0B-1755-4DCA-8992-006C4E3C8B7F}" dt="2026-07-08T09:25:14.595" v="117" actId="20577"/>
          <ac:spMkLst>
            <pc:docMk/>
            <pc:sldMk cId="2280422379" sldId="294"/>
            <ac:spMk id="183" creationId="{6581027B-F54E-6DBF-F40B-0CDF5783C5E8}"/>
          </ac:spMkLst>
        </pc:spChg>
        <pc:graphicFrameChg chg="add mod modGraphic">
          <ac:chgData name="Ronnan Robiantono" userId="8830a521f4abf2dc" providerId="LiveId" clId="{3B352B0B-1755-4DCA-8992-006C4E3C8B7F}" dt="2026-07-08T09:26:20.635" v="129" actId="14100"/>
          <ac:graphicFrameMkLst>
            <pc:docMk/>
            <pc:sldMk cId="2280422379" sldId="294"/>
            <ac:graphicFrameMk id="2" creationId="{BF7379D5-55CD-08D7-6914-71E1D01E8354}"/>
          </ac:graphicFrameMkLst>
        </pc:graphicFrameChg>
      </pc:sldChg>
      <pc:sldChg chg="delSp modSp add mod">
        <pc:chgData name="Ronnan Robiantono" userId="8830a521f4abf2dc" providerId="LiveId" clId="{3B352B0B-1755-4DCA-8992-006C4E3C8B7F}" dt="2026-07-08T09:28:43.173" v="149" actId="14100"/>
        <pc:sldMkLst>
          <pc:docMk/>
          <pc:sldMk cId="403519977" sldId="295"/>
        </pc:sldMkLst>
        <pc:spChg chg="del">
          <ac:chgData name="Ronnan Robiantono" userId="8830a521f4abf2dc" providerId="LiveId" clId="{3B352B0B-1755-4DCA-8992-006C4E3C8B7F}" dt="2026-07-08T09:27:19.453" v="136" actId="478"/>
          <ac:spMkLst>
            <pc:docMk/>
            <pc:sldMk cId="403519977" sldId="295"/>
            <ac:spMk id="4" creationId="{551C8F43-2F61-395C-BA58-2A1C9DA27297}"/>
          </ac:spMkLst>
        </pc:spChg>
        <pc:spChg chg="mod">
          <ac:chgData name="Ronnan Robiantono" userId="8830a521f4abf2dc" providerId="LiveId" clId="{3B352B0B-1755-4DCA-8992-006C4E3C8B7F}" dt="2026-07-08T09:28:43.173" v="149" actId="14100"/>
          <ac:spMkLst>
            <pc:docMk/>
            <pc:sldMk cId="403519977" sldId="295"/>
            <ac:spMk id="9" creationId="{6DA03173-06CA-F947-C1FD-0D95BFFF4C91}"/>
          </ac:spMkLst>
        </pc:spChg>
        <pc:spChg chg="mod">
          <ac:chgData name="Ronnan Robiantono" userId="8830a521f4abf2dc" providerId="LiveId" clId="{3B352B0B-1755-4DCA-8992-006C4E3C8B7F}" dt="2026-07-08T09:27:42.117" v="138"/>
          <ac:spMkLst>
            <pc:docMk/>
            <pc:sldMk cId="403519977" sldId="295"/>
            <ac:spMk id="183" creationId="{6F523DC0-C11E-387E-F111-04C0F80736C5}"/>
          </ac:spMkLst>
        </pc:spChg>
        <pc:graphicFrameChg chg="del">
          <ac:chgData name="Ronnan Robiantono" userId="8830a521f4abf2dc" providerId="LiveId" clId="{3B352B0B-1755-4DCA-8992-006C4E3C8B7F}" dt="2026-07-08T09:27:17.710" v="135" actId="478"/>
          <ac:graphicFrameMkLst>
            <pc:docMk/>
            <pc:sldMk cId="403519977" sldId="295"/>
            <ac:graphicFrameMk id="2" creationId="{F260AF0F-E352-3059-AE67-3A5B813D6D62}"/>
          </ac:graphicFrameMkLst>
        </pc:graphicFrameChg>
      </pc:sldChg>
      <pc:sldMasterChg chg="delSldLayout">
        <pc:chgData name="Ronnan Robiantono" userId="8830a521f4abf2dc" providerId="LiveId" clId="{3B352B0B-1755-4DCA-8992-006C4E3C8B7F}" dt="2026-07-08T09:28:53.445" v="150" actId="47"/>
        <pc:sldMasterMkLst>
          <pc:docMk/>
          <pc:sldMasterMk cId="0" sldId="2147483673"/>
        </pc:sldMasterMkLst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49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51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52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56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59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60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62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63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64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65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66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3"/>
            <pc:sldLayoutMk cId="0" sldId="2147483667"/>
          </pc:sldLayoutMkLst>
        </pc:sldLayoutChg>
      </pc:sldMasterChg>
      <pc:sldMasterChg chg="del delSldLayout">
        <pc:chgData name="Ronnan Robiantono" userId="8830a521f4abf2dc" providerId="LiveId" clId="{3B352B0B-1755-4DCA-8992-006C4E3C8B7F}" dt="2026-07-08T09:28:53.445" v="150" actId="47"/>
        <pc:sldMasterMkLst>
          <pc:docMk/>
          <pc:sldMasterMk cId="0" sldId="2147483674"/>
        </pc:sldMasterMkLst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4"/>
            <pc:sldLayoutMk cId="0" sldId="2147483670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4"/>
            <pc:sldLayoutMk cId="0" sldId="2147483671"/>
          </pc:sldLayoutMkLst>
        </pc:sldLayoutChg>
        <pc:sldLayoutChg chg="del">
          <pc:chgData name="Ronnan Robiantono" userId="8830a521f4abf2dc" providerId="LiveId" clId="{3B352B0B-1755-4DCA-8992-006C4E3C8B7F}" dt="2026-07-08T09:28:53.445" v="150" actId="47"/>
          <pc:sldLayoutMkLst>
            <pc:docMk/>
            <pc:sldMasterMk cId="0" sldId="2147483674"/>
            <pc:sldLayoutMk cId="0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2ff4209b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2ff4209b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BE10B7E-5687-EFE6-4747-0976E297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B778221B-A1AA-CE79-D86B-9C61133AA2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0A4B55C1-EBEB-58EE-46AB-760E9919D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499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5B3AFE8-4BFA-A7C9-7C4E-F08ACFC5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CF0B05EE-19CF-7194-B570-36BAC9F70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3050A140-79AE-36FB-8B96-8EFB1E9E9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230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3C65510-94DF-6FC1-A92D-BF9AF94F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A6D1842A-23E2-F9C0-E1D0-693A51539E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193E4838-F9BF-0372-926A-8F4E3831A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775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DABDDD0-A7E5-F49C-DE23-6B6FA133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D00EE4BA-E737-F6A5-5F2F-DA0650136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43FA2634-A318-F504-C78D-837792C25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523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1D041BE-67E5-A19C-8CEA-8F5D0E9F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DEA9A60F-4E7D-3900-42E4-3971DA968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A5AA97B8-03BA-D559-D73D-DE5FE093E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2126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B313BB2-8EF7-695F-5EC7-49B8D879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E9B72292-29AE-BDB0-5AFA-D99CAE980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1D5A1E52-7DEA-B367-0717-7BAEB17A7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40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04D1EDA-63BB-C794-7534-D283A5CF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4C7CF8A1-9565-585C-A733-5ADD220A8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A409EB64-E241-4E66-9EBA-60795D23CD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93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9D7E78C-0B19-788B-91ED-14439A5B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2A082213-4CBD-F9FC-C26A-674AD069A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FC7436F7-CFB5-79EB-5D21-8AFB6E869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20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flipH="1">
            <a:off x="457200" y="4391750"/>
            <a:ext cx="4215600" cy="38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rot="130" flipH="1">
            <a:off x="457525" y="368058"/>
            <a:ext cx="7931100" cy="243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500"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pic>
        <p:nvPicPr>
          <p:cNvPr id="11" name="Google Shape;11;p2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>
            <a:off x="3834475" y="1266252"/>
            <a:ext cx="6626048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457200" y="1221475"/>
            <a:ext cx="8233800" cy="13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arker Grotesque SemiBold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053700" y="1704950"/>
            <a:ext cx="4512900" cy="28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44547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44547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845200" y="1199375"/>
            <a:ext cx="4620300" cy="21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15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 rot="3072118">
            <a:off x="-2614977" y="-1976735"/>
            <a:ext cx="4433905" cy="386622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>
            <a:spLocks noGrp="1"/>
          </p:cNvSpPr>
          <p:nvPr>
            <p:ph type="pic" idx="2"/>
          </p:nvPr>
        </p:nvSpPr>
        <p:spPr>
          <a:xfrm>
            <a:off x="5782800" y="1249550"/>
            <a:ext cx="3361200" cy="389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61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>
            <a:spLocks noGrp="1"/>
          </p:cNvSpPr>
          <p:nvPr>
            <p:ph type="subTitle" idx="1"/>
          </p:nvPr>
        </p:nvSpPr>
        <p:spPr>
          <a:xfrm flipH="1">
            <a:off x="457200" y="4391750"/>
            <a:ext cx="42156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Ronnan Ardi Robiantono (24053026)</a:t>
            </a:r>
            <a:endParaRPr dirty="0"/>
          </a:p>
        </p:txBody>
      </p:sp>
      <p:sp>
        <p:nvSpPr>
          <p:cNvPr id="123" name="Google Shape;123;p28"/>
          <p:cNvSpPr txBox="1">
            <a:spLocks noGrp="1"/>
          </p:cNvSpPr>
          <p:nvPr>
            <p:ph type="ctrTitle"/>
          </p:nvPr>
        </p:nvSpPr>
        <p:spPr>
          <a:xfrm rot="130" flipH="1">
            <a:off x="457525" y="368058"/>
            <a:ext cx="7931100" cy="24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Mini Project </a:t>
            </a:r>
            <a:r>
              <a:rPr lang="en-US" sz="4000" dirty="0" err="1"/>
              <a:t>Kecerdasan</a:t>
            </a:r>
            <a:r>
              <a:rPr lang="en-US" sz="4000" dirty="0"/>
              <a:t> </a:t>
            </a:r>
            <a:r>
              <a:rPr lang="en-US" sz="4000" dirty="0" err="1"/>
              <a:t>Buatan</a:t>
            </a:r>
            <a:r>
              <a:rPr lang="en-US" sz="4000" dirty="0"/>
              <a:t>: </a:t>
            </a:r>
            <a:r>
              <a:rPr lang="en-US" sz="4000" dirty="0" err="1"/>
              <a:t>Perbandingan</a:t>
            </a:r>
            <a:r>
              <a:rPr lang="en-US" sz="4000" dirty="0"/>
              <a:t> </a:t>
            </a:r>
            <a:r>
              <a:rPr lang="en-US" sz="4000" dirty="0" err="1"/>
              <a:t>Algoritma</a:t>
            </a:r>
            <a:r>
              <a:rPr lang="en-US" sz="4000" dirty="0"/>
              <a:t> Klasifikasi &amp; Clustering pada Dataset Iris</a:t>
            </a:r>
            <a:endParaRPr sz="40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2" name="Google Shape;182;p31"/>
          <p:cNvSpPr txBox="1">
            <a:spLocks noGrp="1"/>
          </p:cNvSpPr>
          <p:nvPr>
            <p:ph type="body" idx="1"/>
          </p:nvPr>
        </p:nvSpPr>
        <p:spPr>
          <a:xfrm>
            <a:off x="515100" y="1156243"/>
            <a:ext cx="7783701" cy="3182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Klasifikasi dan clustering </a:t>
            </a:r>
            <a:r>
              <a:rPr lang="en-US" dirty="0" err="1"/>
              <a:t>adalah</a:t>
            </a:r>
            <a:r>
              <a:rPr lang="en-US" dirty="0"/>
              <a:t> dua </a:t>
            </a:r>
            <a:r>
              <a:rPr lang="en-US" dirty="0" err="1"/>
              <a:t>pendekatan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data mining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pada data.</a:t>
            </a:r>
          </a:p>
          <a:p>
            <a:r>
              <a:rPr lang="en-US" dirty="0"/>
              <a:t>Dataset Iris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benchmark </a:t>
            </a:r>
            <a:r>
              <a:rPr lang="en-US" dirty="0" err="1"/>
              <a:t>klasik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machine learning — </a:t>
            </a:r>
            <a:r>
              <a:rPr lang="en-US" dirty="0" err="1"/>
              <a:t>sederhana</a:t>
            </a:r>
            <a:r>
              <a:rPr lang="en-US" dirty="0"/>
              <a:t>, </a:t>
            </a:r>
            <a:r>
              <a:rPr lang="en-US" dirty="0" err="1"/>
              <a:t>bersih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tantangan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 multi-</a:t>
            </a:r>
            <a:r>
              <a:rPr lang="en-US" dirty="0" err="1"/>
              <a:t>kelas</a:t>
            </a:r>
            <a:r>
              <a:rPr lang="en-US" dirty="0"/>
              <a:t> (3 </a:t>
            </a:r>
            <a:r>
              <a:rPr lang="en-US" dirty="0" err="1"/>
              <a:t>spesies</a:t>
            </a:r>
            <a:r>
              <a:rPr lang="en-US" dirty="0"/>
              <a:t> bunga).</a:t>
            </a:r>
          </a:p>
          <a:p>
            <a:r>
              <a:rPr lang="en-US" dirty="0"/>
              <a:t>Project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:</a:t>
            </a:r>
          </a:p>
          <a:p>
            <a:endParaRPr lang="en-US" dirty="0"/>
          </a:p>
          <a:p>
            <a:pPr marL="482600" indent="-342900">
              <a:buFont typeface="+mj-lt"/>
              <a:buAutoNum type="arabicPeriod"/>
            </a:pPr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KNN vs Random Forest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US" dirty="0" err="1"/>
              <a:t>Mengimplementasikan</a:t>
            </a:r>
            <a:r>
              <a:rPr lang="en-US" dirty="0"/>
              <a:t> Fuzzy C-Means </a:t>
            </a:r>
            <a:r>
              <a:rPr lang="en-US" dirty="0" err="1"/>
              <a:t>untuk</a:t>
            </a:r>
            <a:r>
              <a:rPr lang="en-US" dirty="0"/>
              <a:t> clustering </a:t>
            </a:r>
            <a:r>
              <a:rPr lang="en-US" dirty="0" err="1"/>
              <a:t>tanpa</a:t>
            </a:r>
            <a:r>
              <a:rPr lang="en-US" dirty="0"/>
              <a:t> label.</a:t>
            </a:r>
          </a:p>
          <a:p>
            <a:pPr marL="482600" indent="-342900">
              <a:buFont typeface="+mj-lt"/>
              <a:buAutoNum type="arabicPeriod"/>
            </a:pPr>
            <a:r>
              <a:rPr lang="en-US" dirty="0" err="1"/>
              <a:t>Membandingkan</a:t>
            </a:r>
            <a:r>
              <a:rPr lang="en-US" dirty="0"/>
              <a:t> tools data mining RapidMiner vs Orange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Decision Tree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</p:txBody>
      </p:sp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Latar </a:t>
            </a:r>
            <a:r>
              <a:rPr lang="en-US" dirty="0" err="1"/>
              <a:t>Belakang</a:t>
            </a:r>
            <a:endParaRPr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2A162BC5-43B9-4A30-5240-DD3BDFEB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7CD2069C-3AFA-C3E8-83E0-0B1DC6B34616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2" name="Google Shape;182;p31">
            <a:extLst>
              <a:ext uri="{FF2B5EF4-FFF2-40B4-BE49-F238E27FC236}">
                <a16:creationId xmlns:a16="http://schemas.microsoft.com/office/drawing/2014/main" id="{81AB1D13-9AF5-AE50-5C11-A54CEB023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5100" y="922399"/>
            <a:ext cx="7783701" cy="3657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dirty="0" err="1"/>
              <a:t>Sumber</a:t>
            </a:r>
            <a:r>
              <a:rPr lang="en-US" sz="1100" dirty="0"/>
              <a:t> data: Dataset Iris built-in </a:t>
            </a:r>
            <a:r>
              <a:rPr lang="en-US" sz="1100" dirty="0" err="1"/>
              <a:t>sklearn.datasets.load_iris</a:t>
            </a:r>
            <a:r>
              <a:rPr lang="en-US" sz="1100" dirty="0"/>
              <a:t>, </a:t>
            </a:r>
            <a:r>
              <a:rPr lang="en-US" sz="1100" dirty="0" err="1"/>
              <a:t>aslinya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UCI Machine Learning Repository, </a:t>
            </a:r>
            <a:r>
              <a:rPr lang="en-US" sz="1100" dirty="0" err="1"/>
              <a:t>dikumpulkan</a:t>
            </a:r>
            <a:r>
              <a:rPr lang="en-US" sz="1100" dirty="0"/>
              <a:t> oleh R.A. Fisher 1936</a:t>
            </a:r>
          </a:p>
          <a:p>
            <a:pPr marL="139700" indent="0">
              <a:buNone/>
            </a:pPr>
            <a:r>
              <a:rPr lang="en-US" sz="1100" dirty="0" err="1"/>
              <a:t>Jumlah</a:t>
            </a:r>
            <a:r>
              <a:rPr lang="en-US" sz="1100" dirty="0"/>
              <a:t> data &amp; </a:t>
            </a:r>
            <a:r>
              <a:rPr lang="en-US" sz="1100" dirty="0" err="1"/>
              <a:t>atribut</a:t>
            </a:r>
            <a:r>
              <a:rPr lang="en-US" sz="1100" dirty="0"/>
              <a:t>:</a:t>
            </a:r>
          </a:p>
          <a:p>
            <a:r>
              <a:rPr lang="en-US" sz="1100" dirty="0"/>
              <a:t>150 baris data (</a:t>
            </a:r>
            <a:r>
              <a:rPr lang="en-US" sz="1100" dirty="0" err="1"/>
              <a:t>sampel</a:t>
            </a:r>
            <a:r>
              <a:rPr lang="en-US" sz="1100" dirty="0"/>
              <a:t> bunga), 3 </a:t>
            </a:r>
            <a:r>
              <a:rPr lang="en-US" sz="1100" dirty="0" err="1"/>
              <a:t>kelas</a:t>
            </a:r>
            <a:r>
              <a:rPr lang="en-US" sz="1100" dirty="0"/>
              <a:t> </a:t>
            </a:r>
            <a:r>
              <a:rPr lang="en-US" sz="1100" dirty="0" err="1"/>
              <a:t>spesies</a:t>
            </a:r>
            <a:r>
              <a:rPr lang="en-US" sz="1100" dirty="0"/>
              <a:t> (masing-masing 50 </a:t>
            </a:r>
            <a:r>
              <a:rPr lang="en-US" sz="1100" dirty="0" err="1"/>
              <a:t>sampel</a:t>
            </a:r>
            <a:r>
              <a:rPr lang="en-US" sz="1100" dirty="0"/>
              <a:t>): </a:t>
            </a:r>
            <a:r>
              <a:rPr lang="en-US" sz="1100" i="1" dirty="0" err="1"/>
              <a:t>setosa</a:t>
            </a:r>
            <a:r>
              <a:rPr lang="en-US" sz="1100" i="1" dirty="0"/>
              <a:t>, versicolor, virginica</a:t>
            </a:r>
            <a:r>
              <a:rPr lang="en-US" sz="1100" dirty="0"/>
              <a:t>.</a:t>
            </a:r>
          </a:p>
          <a:p>
            <a:r>
              <a:rPr lang="en-US" sz="1100" dirty="0"/>
              <a:t>4 </a:t>
            </a:r>
            <a:r>
              <a:rPr lang="en-US" sz="1100" dirty="0" err="1"/>
              <a:t>atribut</a:t>
            </a:r>
            <a:r>
              <a:rPr lang="en-US" sz="1100" dirty="0"/>
              <a:t> </a:t>
            </a:r>
            <a:r>
              <a:rPr lang="en-US" sz="1100" dirty="0" err="1"/>
              <a:t>numerik</a:t>
            </a:r>
            <a:r>
              <a:rPr lang="en-US" sz="1100" dirty="0"/>
              <a:t> (</a:t>
            </a:r>
            <a:r>
              <a:rPr lang="en-US" sz="1100" dirty="0" err="1"/>
              <a:t>fitur</a:t>
            </a:r>
            <a:r>
              <a:rPr lang="en-US" sz="1100" dirty="0"/>
              <a:t>) + 1 label </a:t>
            </a:r>
            <a:r>
              <a:rPr lang="en-US" sz="1100" dirty="0" err="1"/>
              <a:t>kelas</a:t>
            </a:r>
            <a:r>
              <a:rPr lang="en-US" sz="1100" dirty="0"/>
              <a:t>.</a:t>
            </a:r>
          </a:p>
          <a:p>
            <a:pPr marL="139700" indent="0">
              <a:buNone/>
            </a:pPr>
            <a:endParaRPr lang="en-US" sz="1200" dirty="0"/>
          </a:p>
        </p:txBody>
      </p:sp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D62C082A-03F3-5243-1740-09F20A82C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Deskripsi</a:t>
            </a:r>
            <a:r>
              <a:rPr lang="en-US" dirty="0"/>
              <a:t> Dataset</a:t>
            </a:r>
            <a:endParaRPr i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C8A14C-D1D4-623D-CA1B-DEE9F49AF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17256"/>
              </p:ext>
            </p:extLst>
          </p:nvPr>
        </p:nvGraphicFramePr>
        <p:xfrm>
          <a:off x="767559" y="2084029"/>
          <a:ext cx="7531242" cy="2225040"/>
        </p:xfrm>
        <a:graphic>
          <a:graphicData uri="http://schemas.openxmlformats.org/drawingml/2006/table">
            <a:tbl>
              <a:tblPr firstRow="1" bandRow="1">
                <a:tableStyleId>{B521D955-1A6E-4D15-B88D-BD15677DF0F3}</a:tableStyleId>
              </a:tblPr>
              <a:tblGrid>
                <a:gridCol w="3765621">
                  <a:extLst>
                    <a:ext uri="{9D8B030D-6E8A-4147-A177-3AD203B41FA5}">
                      <a16:colId xmlns:a16="http://schemas.microsoft.com/office/drawing/2014/main" val="1363749258"/>
                    </a:ext>
                  </a:extLst>
                </a:gridCol>
                <a:gridCol w="3765621">
                  <a:extLst>
                    <a:ext uri="{9D8B030D-6E8A-4147-A177-3AD203B41FA5}">
                      <a16:colId xmlns:a16="http://schemas.microsoft.com/office/drawing/2014/main" val="2118666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latin typeface="Viaoda Libre" panose="020B0604020202020204" charset="0"/>
                        </a:rPr>
                        <a:t>Atribut</a:t>
                      </a:r>
                      <a:endParaRPr lang="en-US" sz="1600" b="0" dirty="0">
                        <a:latin typeface="Viaoda Libre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latin typeface="Viaoda Libre" panose="020B0604020202020204" charset="0"/>
                        </a:rPr>
                        <a:t>Keterangan</a:t>
                      </a:r>
                      <a:endParaRPr lang="en-US" sz="1600" b="0" dirty="0">
                        <a:latin typeface="Viaoda Libre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558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sepal length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Panjang kelopak luar bunga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91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sepal width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Lebar kelopak luar bunga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20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petal length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Panjang kelopak dalam (mahkota) bunga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947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petal width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Lebar </a:t>
                      </a:r>
                      <a:r>
                        <a:rPr lang="en-US" sz="1100" dirty="0" err="1"/>
                        <a:t>kelopak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dalam</a:t>
                      </a:r>
                      <a:r>
                        <a:rPr lang="en-US" sz="1100" dirty="0"/>
                        <a:t> bunga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91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Label </a:t>
                      </a:r>
                      <a:r>
                        <a:rPr lang="en-US" sz="1100" dirty="0" err="1"/>
                        <a:t>kelas</a:t>
                      </a:r>
                      <a:r>
                        <a:rPr lang="en-US" sz="1100" dirty="0"/>
                        <a:t> target (</a:t>
                      </a:r>
                      <a:r>
                        <a:rPr lang="en-US" sz="1100" dirty="0" err="1"/>
                        <a:t>setosa</a:t>
                      </a:r>
                      <a:r>
                        <a:rPr lang="en-US" sz="1100" dirty="0"/>
                        <a:t>/versicolor/virginica)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970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46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F62AE0B-4990-D2ED-31AE-3D20B834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42E36472-1ABD-B0E2-1B63-BE37B56BAF4D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2" name="Google Shape;182;p31">
            <a:extLst>
              <a:ext uri="{FF2B5EF4-FFF2-40B4-BE49-F238E27FC236}">
                <a16:creationId xmlns:a16="http://schemas.microsoft.com/office/drawing/2014/main" id="{EB414B2E-AF31-FBF2-0BEC-524CAF339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5100" y="980328"/>
            <a:ext cx="7783701" cy="3182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dirty="0" err="1"/>
              <a:t>Tahapan</a:t>
            </a:r>
            <a:r>
              <a:rPr lang="en-US" sz="1100" dirty="0"/>
              <a:t> preprocessing yang </a:t>
            </a:r>
            <a:r>
              <a:rPr lang="en-US" sz="1100" dirty="0" err="1"/>
              <a:t>dilakukan</a:t>
            </a:r>
            <a:r>
              <a:rPr lang="en-US" sz="1100" dirty="0"/>
              <a:t>: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1100" dirty="0" err="1"/>
              <a:t>Pengecekan</a:t>
            </a:r>
            <a:r>
              <a:rPr lang="en-US" sz="1100" dirty="0"/>
              <a:t> missing value &amp; </a:t>
            </a:r>
            <a:r>
              <a:rPr lang="en-US" sz="1100" dirty="0" err="1"/>
              <a:t>duplikat</a:t>
            </a:r>
            <a:r>
              <a:rPr lang="en-US" sz="1100" dirty="0"/>
              <a:t> — dataset Iris </a:t>
            </a:r>
            <a:r>
              <a:rPr lang="en-US" sz="1100" dirty="0" err="1"/>
              <a:t>bersih</a:t>
            </a:r>
            <a:r>
              <a:rPr lang="en-US" sz="1100" dirty="0"/>
              <a:t>, </a:t>
            </a:r>
            <a:r>
              <a:rPr lang="en-US" sz="1100" dirty="0" err="1"/>
              <a:t>tidak</a:t>
            </a:r>
            <a:r>
              <a:rPr lang="en-US" sz="1100" dirty="0"/>
              <a:t> </a:t>
            </a:r>
            <a:r>
              <a:rPr lang="en-US" sz="1100" dirty="0" err="1"/>
              <a:t>ada</a:t>
            </a:r>
            <a:r>
              <a:rPr lang="en-US" sz="1100" dirty="0"/>
              <a:t> </a:t>
            </a:r>
            <a:r>
              <a:rPr lang="en-US" sz="1100" dirty="0" err="1"/>
              <a:t>nilai</a:t>
            </a:r>
            <a:r>
              <a:rPr lang="en-US" sz="1100" dirty="0"/>
              <a:t> </a:t>
            </a:r>
            <a:r>
              <a:rPr lang="en-US" sz="1100" dirty="0" err="1"/>
              <a:t>kosong</a:t>
            </a:r>
            <a:r>
              <a:rPr lang="en-US" sz="1100" dirty="0"/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1100" dirty="0" err="1"/>
              <a:t>Standardisasi</a:t>
            </a:r>
            <a:r>
              <a:rPr lang="en-US" sz="1100" dirty="0"/>
              <a:t>/Scaling </a:t>
            </a:r>
            <a:r>
              <a:rPr lang="en-US" sz="1100" dirty="0" err="1"/>
              <a:t>fitur</a:t>
            </a:r>
            <a:r>
              <a:rPr lang="en-US" sz="1100" dirty="0"/>
              <a:t> (</a:t>
            </a:r>
            <a:r>
              <a:rPr lang="en-US" sz="1100" dirty="0" err="1"/>
              <a:t>StandardScaler</a:t>
            </a:r>
            <a:r>
              <a:rPr lang="en-US" sz="1100" dirty="0"/>
              <a:t>) — </a:t>
            </a:r>
            <a:r>
              <a:rPr lang="en-US" sz="1100" dirty="0" err="1"/>
              <a:t>penting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KNN dan Fuzzy C-Means </a:t>
            </a:r>
            <a:r>
              <a:rPr lang="en-US" sz="1100" dirty="0" err="1"/>
              <a:t>karena</a:t>
            </a:r>
            <a:r>
              <a:rPr lang="en-US" sz="1100" dirty="0"/>
              <a:t> </a:t>
            </a:r>
            <a:r>
              <a:rPr lang="en-US" sz="1100" dirty="0" err="1"/>
              <a:t>keduanya</a:t>
            </a:r>
            <a:r>
              <a:rPr lang="en-US" sz="1100" dirty="0"/>
              <a:t> </a:t>
            </a:r>
            <a:r>
              <a:rPr lang="en-US" sz="1100" dirty="0" err="1"/>
              <a:t>berbasis</a:t>
            </a:r>
            <a:r>
              <a:rPr lang="en-US" sz="1100" dirty="0"/>
              <a:t> </a:t>
            </a:r>
            <a:r>
              <a:rPr lang="en-US" sz="1100" dirty="0" err="1"/>
              <a:t>jarak</a:t>
            </a:r>
            <a:r>
              <a:rPr lang="en-US" sz="1100" dirty="0"/>
              <a:t> (distance-based), </a:t>
            </a:r>
            <a:r>
              <a:rPr lang="en-US" sz="1100" dirty="0" err="1"/>
              <a:t>sehingga</a:t>
            </a:r>
            <a:r>
              <a:rPr lang="en-US" sz="1100" dirty="0"/>
              <a:t> </a:t>
            </a:r>
            <a:r>
              <a:rPr lang="en-US" sz="1100" dirty="0" err="1"/>
              <a:t>skala</a:t>
            </a:r>
            <a:r>
              <a:rPr lang="en-US" sz="1100" dirty="0"/>
              <a:t> </a:t>
            </a:r>
            <a:r>
              <a:rPr lang="en-US" sz="1100" dirty="0" err="1"/>
              <a:t>antar</a:t>
            </a:r>
            <a:r>
              <a:rPr lang="en-US" sz="1100" dirty="0"/>
              <a:t> </a:t>
            </a:r>
            <a:r>
              <a:rPr lang="en-US" sz="1100" dirty="0" err="1"/>
              <a:t>fitur</a:t>
            </a:r>
            <a:r>
              <a:rPr lang="en-US" sz="1100" dirty="0"/>
              <a:t> </a:t>
            </a:r>
            <a:r>
              <a:rPr lang="en-US" sz="1100" dirty="0" err="1"/>
              <a:t>harus</a:t>
            </a:r>
            <a:r>
              <a:rPr lang="en-US" sz="1100" dirty="0"/>
              <a:t> </a:t>
            </a:r>
            <a:r>
              <a:rPr lang="en-US" sz="1100" dirty="0" err="1"/>
              <a:t>setara</a:t>
            </a:r>
            <a:r>
              <a:rPr lang="en-US" sz="1100" dirty="0"/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1100" dirty="0"/>
              <a:t>Split data train-test — </a:t>
            </a:r>
            <a:r>
              <a:rPr lang="en-US" sz="1100" dirty="0" err="1"/>
              <a:t>pembagian</a:t>
            </a:r>
            <a:r>
              <a:rPr lang="en-US" sz="1100" dirty="0"/>
              <a:t> data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melatih</a:t>
            </a:r>
            <a:r>
              <a:rPr lang="en-US" sz="1100" dirty="0"/>
              <a:t> dan </a:t>
            </a:r>
            <a:r>
              <a:rPr lang="en-US" sz="1100" dirty="0" err="1"/>
              <a:t>menguji</a:t>
            </a:r>
            <a:r>
              <a:rPr lang="en-US" sz="1100" dirty="0"/>
              <a:t> model </a:t>
            </a:r>
            <a:r>
              <a:rPr lang="en-US" sz="1100" dirty="0" err="1"/>
              <a:t>secara</a:t>
            </a:r>
            <a:r>
              <a:rPr lang="en-US" sz="1100" dirty="0"/>
              <a:t> </a:t>
            </a:r>
            <a:r>
              <a:rPr lang="en-US" sz="1100" dirty="0" err="1"/>
              <a:t>adil</a:t>
            </a:r>
            <a:r>
              <a:rPr lang="en-US" sz="1100" dirty="0"/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1100" dirty="0"/>
              <a:t>Label encoding — label </a:t>
            </a:r>
            <a:r>
              <a:rPr lang="en-US" sz="1100" dirty="0" err="1"/>
              <a:t>spesies</a:t>
            </a:r>
            <a:r>
              <a:rPr lang="en-US" sz="1100" dirty="0"/>
              <a:t> </a:t>
            </a:r>
            <a:r>
              <a:rPr lang="en-US" sz="1100" dirty="0" err="1"/>
              <a:t>dikonversi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</a:t>
            </a:r>
            <a:r>
              <a:rPr lang="en-US" sz="1100" dirty="0" err="1"/>
              <a:t>bentuk</a:t>
            </a:r>
            <a:r>
              <a:rPr lang="en-US" sz="1100" dirty="0"/>
              <a:t> </a:t>
            </a:r>
            <a:r>
              <a:rPr lang="en-US" sz="1100" dirty="0" err="1"/>
              <a:t>numerik</a:t>
            </a:r>
            <a:r>
              <a:rPr lang="en-US" sz="1100" dirty="0"/>
              <a:t> (0,1,2) agar </a:t>
            </a:r>
            <a:r>
              <a:rPr lang="en-US" sz="1100" dirty="0" err="1"/>
              <a:t>bisa</a:t>
            </a:r>
            <a:r>
              <a:rPr lang="en-US" sz="1100" dirty="0"/>
              <a:t> </a:t>
            </a:r>
            <a:r>
              <a:rPr lang="en-US" sz="1100" dirty="0" err="1"/>
              <a:t>diproses</a:t>
            </a:r>
            <a:r>
              <a:rPr lang="en-US" sz="1100" dirty="0"/>
              <a:t> model.</a:t>
            </a:r>
          </a:p>
          <a:p>
            <a:pPr marL="139700" indent="0">
              <a:buNone/>
            </a:pPr>
            <a:r>
              <a:rPr lang="en-US" sz="1100" dirty="0"/>
              <a:t>Alasan </a:t>
            </a:r>
            <a:r>
              <a:rPr lang="en-US" sz="1100" dirty="0" err="1"/>
              <a:t>tiap</a:t>
            </a:r>
            <a:r>
              <a:rPr lang="en-US" sz="1100" dirty="0"/>
              <a:t> </a:t>
            </a:r>
            <a:r>
              <a:rPr lang="en-US" sz="1100" dirty="0" err="1"/>
              <a:t>tahap</a:t>
            </a:r>
            <a:r>
              <a:rPr lang="en-US" sz="1100" dirty="0"/>
              <a:t>:</a:t>
            </a:r>
          </a:p>
          <a:p>
            <a:r>
              <a:rPr lang="en-US" sz="1100" dirty="0"/>
              <a:t>Scaling → </a:t>
            </a:r>
            <a:r>
              <a:rPr lang="en-US" sz="1100" dirty="0" err="1"/>
              <a:t>mencegah</a:t>
            </a:r>
            <a:r>
              <a:rPr lang="en-US" sz="1100" dirty="0"/>
              <a:t> </a:t>
            </a:r>
            <a:r>
              <a:rPr lang="en-US" sz="1100" dirty="0" err="1"/>
              <a:t>fitur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skala</a:t>
            </a:r>
            <a:r>
              <a:rPr lang="en-US" sz="1100" dirty="0"/>
              <a:t> </a:t>
            </a:r>
            <a:r>
              <a:rPr lang="en-US" sz="1100" dirty="0" err="1"/>
              <a:t>besar</a:t>
            </a:r>
            <a:r>
              <a:rPr lang="en-US" sz="1100" dirty="0"/>
              <a:t> (</a:t>
            </a:r>
            <a:r>
              <a:rPr lang="en-US" sz="1100" dirty="0" err="1"/>
              <a:t>misal</a:t>
            </a:r>
            <a:r>
              <a:rPr lang="en-US" sz="1100" dirty="0"/>
              <a:t> petal length) </a:t>
            </a:r>
            <a:r>
              <a:rPr lang="en-US" sz="1100" dirty="0" err="1"/>
              <a:t>mendominasi</a:t>
            </a:r>
            <a:r>
              <a:rPr lang="en-US" sz="1100" dirty="0"/>
              <a:t> </a:t>
            </a:r>
            <a:r>
              <a:rPr lang="en-US" sz="1100" dirty="0" err="1"/>
              <a:t>perhitungan</a:t>
            </a:r>
            <a:r>
              <a:rPr lang="en-US" sz="1100" dirty="0"/>
              <a:t> </a:t>
            </a:r>
            <a:r>
              <a:rPr lang="en-US" sz="1100" dirty="0" err="1"/>
              <a:t>jarak</a:t>
            </a:r>
            <a:r>
              <a:rPr lang="en-US" sz="1100" dirty="0"/>
              <a:t> </a:t>
            </a:r>
            <a:r>
              <a:rPr lang="en-US" sz="1100" dirty="0" err="1"/>
              <a:t>dibanding</a:t>
            </a:r>
            <a:r>
              <a:rPr lang="en-US" sz="1100" dirty="0"/>
              <a:t> </a:t>
            </a:r>
            <a:r>
              <a:rPr lang="en-US" sz="1100" dirty="0" err="1"/>
              <a:t>fitur</a:t>
            </a:r>
            <a:r>
              <a:rPr lang="en-US" sz="1100" dirty="0"/>
              <a:t> </a:t>
            </a:r>
            <a:r>
              <a:rPr lang="en-US" sz="1100" dirty="0" err="1"/>
              <a:t>skala</a:t>
            </a:r>
            <a:r>
              <a:rPr lang="en-US" sz="1100" dirty="0"/>
              <a:t> </a:t>
            </a:r>
            <a:r>
              <a:rPr lang="en-US" sz="1100" dirty="0" err="1"/>
              <a:t>kecil</a:t>
            </a:r>
            <a:r>
              <a:rPr lang="en-US" sz="1100" dirty="0"/>
              <a:t>.</a:t>
            </a:r>
          </a:p>
          <a:p>
            <a:r>
              <a:rPr lang="en-US" sz="1100" dirty="0"/>
              <a:t>Split data → </a:t>
            </a:r>
            <a:r>
              <a:rPr lang="en-US" sz="1100" dirty="0" err="1"/>
              <a:t>mengukur</a:t>
            </a:r>
            <a:r>
              <a:rPr lang="en-US" sz="1100" dirty="0"/>
              <a:t> </a:t>
            </a:r>
            <a:r>
              <a:rPr lang="en-US" sz="1100" dirty="0" err="1"/>
              <a:t>generalisasi</a:t>
            </a:r>
            <a:r>
              <a:rPr lang="en-US" sz="1100" dirty="0"/>
              <a:t> model pada data yang </a:t>
            </a:r>
            <a:r>
              <a:rPr lang="en-US" sz="1100" dirty="0" err="1"/>
              <a:t>belum</a:t>
            </a:r>
            <a:r>
              <a:rPr lang="en-US" sz="1100" dirty="0"/>
              <a:t> </a:t>
            </a:r>
            <a:r>
              <a:rPr lang="en-US" sz="1100" dirty="0" err="1"/>
              <a:t>pernah</a:t>
            </a:r>
            <a:r>
              <a:rPr lang="en-US" sz="1100" dirty="0"/>
              <a:t> </a:t>
            </a:r>
            <a:r>
              <a:rPr lang="en-US" sz="1100" dirty="0" err="1"/>
              <a:t>dilihat</a:t>
            </a:r>
            <a:r>
              <a:rPr lang="en-US" sz="1100" dirty="0"/>
              <a:t>.</a:t>
            </a:r>
          </a:p>
          <a:p>
            <a:r>
              <a:rPr lang="en-US" sz="1100" dirty="0"/>
              <a:t>Encoding → </a:t>
            </a:r>
            <a:r>
              <a:rPr lang="en-US" sz="1100" dirty="0" err="1"/>
              <a:t>algoritma</a:t>
            </a:r>
            <a:r>
              <a:rPr lang="en-US" sz="1100" dirty="0"/>
              <a:t> ML </a:t>
            </a:r>
            <a:r>
              <a:rPr lang="en-US" sz="1100" dirty="0" err="1"/>
              <a:t>membutuhkan</a:t>
            </a:r>
            <a:r>
              <a:rPr lang="en-US" sz="1100" dirty="0"/>
              <a:t> input </a:t>
            </a:r>
            <a:r>
              <a:rPr lang="en-US" sz="1100" dirty="0" err="1"/>
              <a:t>numerik</a:t>
            </a:r>
            <a:r>
              <a:rPr lang="en-US" sz="1100" dirty="0"/>
              <a:t>.</a:t>
            </a:r>
          </a:p>
          <a:p>
            <a:pPr marL="139700" indent="0">
              <a:buNone/>
            </a:pPr>
            <a:endParaRPr lang="en-US" sz="1100" dirty="0"/>
          </a:p>
          <a:p>
            <a:pPr marL="139700" indent="0">
              <a:buNone/>
            </a:pPr>
            <a:r>
              <a:rPr lang="en-US" sz="1100" dirty="0"/>
              <a:t>Before–After (</a:t>
            </a:r>
            <a:r>
              <a:rPr lang="en-US" sz="1100" dirty="0" err="1"/>
              <a:t>contoh</a:t>
            </a:r>
            <a:r>
              <a:rPr lang="en-US" sz="1100" dirty="0"/>
              <a:t> </a:t>
            </a:r>
            <a:r>
              <a:rPr lang="en-US" sz="1100" dirty="0" err="1"/>
              <a:t>ilustratif</a:t>
            </a:r>
            <a:r>
              <a:rPr lang="en-US" sz="1100" dirty="0"/>
              <a:t>):</a:t>
            </a:r>
          </a:p>
        </p:txBody>
      </p:sp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11739D21-4A3B-6BE1-5A69-6E76C191A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Preprocessing Data</a:t>
            </a:r>
            <a:endParaRPr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BBF97C-4A89-7996-67D5-E449512C3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35691"/>
              </p:ext>
            </p:extLst>
          </p:nvPr>
        </p:nvGraphicFramePr>
        <p:xfrm>
          <a:off x="750308" y="3326081"/>
          <a:ext cx="6944454" cy="1106312"/>
        </p:xfrm>
        <a:graphic>
          <a:graphicData uri="http://schemas.openxmlformats.org/drawingml/2006/table">
            <a:tbl>
              <a:tblPr firstRow="1" bandRow="1">
                <a:tableStyleId>{B521D955-1A6E-4D15-B88D-BD15677DF0F3}</a:tableStyleId>
              </a:tblPr>
              <a:tblGrid>
                <a:gridCol w="2314818">
                  <a:extLst>
                    <a:ext uri="{9D8B030D-6E8A-4147-A177-3AD203B41FA5}">
                      <a16:colId xmlns:a16="http://schemas.microsoft.com/office/drawing/2014/main" val="2177344882"/>
                    </a:ext>
                  </a:extLst>
                </a:gridCol>
                <a:gridCol w="2314818">
                  <a:extLst>
                    <a:ext uri="{9D8B030D-6E8A-4147-A177-3AD203B41FA5}">
                      <a16:colId xmlns:a16="http://schemas.microsoft.com/office/drawing/2014/main" val="3423188442"/>
                    </a:ext>
                  </a:extLst>
                </a:gridCol>
                <a:gridCol w="2314818">
                  <a:extLst>
                    <a:ext uri="{9D8B030D-6E8A-4147-A177-3AD203B41FA5}">
                      <a16:colId xmlns:a16="http://schemas.microsoft.com/office/drawing/2014/main" val="2903087852"/>
                    </a:ext>
                  </a:extLst>
                </a:gridCol>
              </a:tblGrid>
              <a:tr h="276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Fitur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Before (raw)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After (scaled)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260657"/>
                  </a:ext>
                </a:extLst>
              </a:tr>
              <a:tr h="276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sepal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5.1 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462879"/>
                  </a:ext>
                </a:extLst>
              </a:tr>
              <a:tr h="276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petal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1.4 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-1.34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479965"/>
                  </a:ext>
                </a:extLst>
              </a:tr>
              <a:tr h="276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petal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0.2 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-1.31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753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50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04D1E8C-B5E3-0BE7-9371-AB8D80D7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C56506E0-B7BA-6157-BB91-D852B82D1AEC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2" name="Google Shape;182;p31">
            <a:extLst>
              <a:ext uri="{FF2B5EF4-FFF2-40B4-BE49-F238E27FC236}">
                <a16:creationId xmlns:a16="http://schemas.microsoft.com/office/drawing/2014/main" id="{831C42DC-9C12-9758-37AA-C03C9139F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5100" y="980328"/>
            <a:ext cx="7783701" cy="3182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200" dirty="0"/>
              <a:t>1. K-Nearest Neighbor (KNN)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Mengklasifikasikan</a:t>
            </a:r>
            <a:r>
              <a:rPr lang="en-US" sz="1200" dirty="0"/>
              <a:t> data </a:t>
            </a:r>
            <a:r>
              <a:rPr lang="en-US" sz="1200" dirty="0" err="1"/>
              <a:t>baru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mayoritas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i="1" dirty="0"/>
              <a:t>k</a:t>
            </a:r>
            <a:r>
              <a:rPr lang="en-US" sz="1200" dirty="0"/>
              <a:t> </a:t>
            </a:r>
            <a:r>
              <a:rPr lang="en-US" sz="1200" dirty="0" err="1"/>
              <a:t>tetangga</a:t>
            </a:r>
            <a:r>
              <a:rPr lang="en-US" sz="1200" dirty="0"/>
              <a:t> </a:t>
            </a:r>
            <a:r>
              <a:rPr lang="en-US" sz="1200" dirty="0" err="1"/>
              <a:t>terdekat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Dipilih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, non-</a:t>
            </a:r>
            <a:r>
              <a:rPr lang="en-US" sz="1200" dirty="0" err="1"/>
              <a:t>parametrik</a:t>
            </a:r>
            <a:r>
              <a:rPr lang="en-US" sz="1200" dirty="0"/>
              <a:t>, </a:t>
            </a:r>
            <a:r>
              <a:rPr lang="en-US" sz="1200" dirty="0" err="1"/>
              <a:t>cocok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dataset </a:t>
            </a:r>
            <a:r>
              <a:rPr lang="en-US" sz="1200" dirty="0" err="1"/>
              <a:t>kecil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Iris.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2. Random Forest (RF)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Ensemble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decision tree, </a:t>
            </a:r>
            <a:r>
              <a:rPr lang="en-US" sz="1200" dirty="0" err="1"/>
              <a:t>hasil</a:t>
            </a:r>
            <a:r>
              <a:rPr lang="en-US" sz="1200" dirty="0"/>
              <a:t> </a:t>
            </a:r>
            <a:r>
              <a:rPr lang="en-US" sz="1200" dirty="0" err="1"/>
              <a:t>akhir</a:t>
            </a:r>
            <a:r>
              <a:rPr lang="en-US" sz="1200" dirty="0"/>
              <a:t> </a:t>
            </a:r>
            <a:r>
              <a:rPr lang="en-US" sz="1200" dirty="0" err="1"/>
              <a:t>diambil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voting </a:t>
            </a:r>
            <a:r>
              <a:rPr lang="en-US" sz="1200" dirty="0" err="1"/>
              <a:t>mayoritas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Dipilih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tahan</a:t>
            </a:r>
            <a:r>
              <a:rPr lang="en-US" sz="1200" dirty="0"/>
              <a:t> overfitting dan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memberikan</a:t>
            </a:r>
            <a:r>
              <a:rPr lang="en-US" sz="1200" dirty="0"/>
              <a:t> feature importance.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3. Fuzzy C-Means (FCM)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Metode clustering </a:t>
            </a:r>
            <a:r>
              <a:rPr lang="en-US" sz="1200" dirty="0" err="1"/>
              <a:t>berbasis</a:t>
            </a:r>
            <a:r>
              <a:rPr lang="en-US" sz="1200" dirty="0"/>
              <a:t> </a:t>
            </a:r>
            <a:r>
              <a:rPr lang="en-US" sz="1200" dirty="0" err="1"/>
              <a:t>derajat</a:t>
            </a:r>
            <a:r>
              <a:rPr lang="en-US" sz="1200" dirty="0"/>
              <a:t> </a:t>
            </a:r>
            <a:r>
              <a:rPr lang="en-US" sz="1200" dirty="0" err="1"/>
              <a:t>keanggotaan</a:t>
            </a:r>
            <a:r>
              <a:rPr lang="en-US" sz="1200" dirty="0"/>
              <a:t> (membership degree), </a:t>
            </a:r>
            <a:r>
              <a:rPr lang="en-US" sz="1200" dirty="0" err="1"/>
              <a:t>berbeda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K-Means yang </a:t>
            </a:r>
            <a:r>
              <a:rPr lang="en-US" sz="1200" dirty="0" err="1"/>
              <a:t>bersifat</a:t>
            </a:r>
            <a:r>
              <a:rPr lang="en-US" sz="1200" dirty="0"/>
              <a:t> "</a:t>
            </a:r>
            <a:r>
              <a:rPr lang="en-US" sz="1200" dirty="0" err="1"/>
              <a:t>keras</a:t>
            </a:r>
            <a:r>
              <a:rPr lang="en-US" sz="1200" dirty="0"/>
              <a:t>" (hard clustering) — </a:t>
            </a:r>
            <a:r>
              <a:rPr lang="en-US" sz="1200" dirty="0" err="1"/>
              <a:t>satu</a:t>
            </a:r>
            <a:r>
              <a:rPr lang="en-US" sz="1200" dirty="0"/>
              <a:t> data </a:t>
            </a:r>
            <a:r>
              <a:rPr lang="en-US" sz="1200" dirty="0" err="1"/>
              <a:t>bisa</a:t>
            </a:r>
            <a:r>
              <a:rPr lang="en-US" sz="1200" dirty="0"/>
              <a:t> punya </a:t>
            </a:r>
            <a:r>
              <a:rPr lang="en-US" sz="1200" dirty="0" err="1"/>
              <a:t>keanggotaan</a:t>
            </a:r>
            <a:r>
              <a:rPr lang="en-US" sz="1200" dirty="0"/>
              <a:t> </a:t>
            </a:r>
            <a:r>
              <a:rPr lang="en-US" sz="1200" dirty="0" err="1"/>
              <a:t>parsial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Dipilih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mengeksplorasi</a:t>
            </a:r>
            <a:r>
              <a:rPr lang="en-US" sz="1200" dirty="0"/>
              <a:t> </a:t>
            </a:r>
            <a:r>
              <a:rPr lang="en-US" sz="1200" dirty="0" err="1"/>
              <a:t>struktur</a:t>
            </a:r>
            <a:r>
              <a:rPr lang="en-US" sz="1200" dirty="0"/>
              <a:t> data Iris </a:t>
            </a:r>
            <a:r>
              <a:rPr lang="en-US" sz="1200" dirty="0" err="1"/>
              <a:t>tanpa</a:t>
            </a:r>
            <a:r>
              <a:rPr lang="en-US" sz="1200" dirty="0"/>
              <a:t> label, </a:t>
            </a:r>
            <a:r>
              <a:rPr lang="en-US" sz="1200" dirty="0" err="1"/>
              <a:t>terutama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Versicolor &amp; Virginica </a:t>
            </a:r>
            <a:r>
              <a:rPr lang="en-US" sz="1200" dirty="0" err="1"/>
              <a:t>diketahui</a:t>
            </a:r>
            <a:r>
              <a:rPr lang="en-US" sz="1200" dirty="0"/>
              <a:t> </a:t>
            </a:r>
            <a:r>
              <a:rPr lang="en-US" sz="1200" dirty="0" err="1"/>
              <a:t>saling</a:t>
            </a:r>
            <a:r>
              <a:rPr lang="en-US" sz="1200" dirty="0"/>
              <a:t> overlap.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4. Decision Tree (RapidMiner vs Orange)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Model </a:t>
            </a:r>
            <a:r>
              <a:rPr lang="en-US" sz="1200" dirty="0" err="1"/>
              <a:t>pohon</a:t>
            </a:r>
            <a:r>
              <a:rPr lang="en-US" sz="1200" dirty="0"/>
              <a:t> </a:t>
            </a:r>
            <a:r>
              <a:rPr lang="en-US" sz="1200" dirty="0" err="1"/>
              <a:t>keputusan</a:t>
            </a:r>
            <a:r>
              <a:rPr lang="en-US" sz="1200" dirty="0"/>
              <a:t> </a:t>
            </a:r>
            <a:r>
              <a:rPr lang="en-US" sz="1200" dirty="0" err="1"/>
              <a:t>berbasis</a:t>
            </a:r>
            <a:r>
              <a:rPr lang="en-US" sz="1200" dirty="0"/>
              <a:t> split </a:t>
            </a:r>
            <a:r>
              <a:rPr lang="en-US" sz="1200" dirty="0" err="1"/>
              <a:t>atribut</a:t>
            </a:r>
            <a:r>
              <a:rPr lang="en-US" sz="1200" dirty="0"/>
              <a:t> (mis. petal length ≤ 2.45).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Dipilih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hasilnya</a:t>
            </a:r>
            <a:r>
              <a:rPr lang="en-US" sz="1200" dirty="0"/>
              <a:t>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divisualisasikan</a:t>
            </a:r>
            <a:r>
              <a:rPr lang="en-US" sz="1200" dirty="0"/>
              <a:t> dan </a:t>
            </a:r>
            <a:r>
              <a:rPr lang="en-US" sz="1200" dirty="0" err="1"/>
              <a:t>diinterpretasi</a:t>
            </a:r>
            <a:r>
              <a:rPr lang="en-US" sz="1200" dirty="0"/>
              <a:t>, </a:t>
            </a:r>
            <a:r>
              <a:rPr lang="en-US" sz="1200" dirty="0" err="1"/>
              <a:t>cocok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membandingkan</a:t>
            </a:r>
            <a:r>
              <a:rPr lang="en-US" sz="1200" dirty="0"/>
              <a:t> </a:t>
            </a:r>
            <a:r>
              <a:rPr lang="en-US" sz="1200" dirty="0" err="1"/>
              <a:t>implementasi</a:t>
            </a:r>
            <a:r>
              <a:rPr lang="en-US" sz="1200" dirty="0"/>
              <a:t> </a:t>
            </a:r>
            <a:r>
              <a:rPr lang="en-US" sz="1200" dirty="0" err="1"/>
              <a:t>antar</a:t>
            </a:r>
            <a:r>
              <a:rPr lang="en-US" sz="1200" dirty="0"/>
              <a:t> tools.</a:t>
            </a:r>
          </a:p>
        </p:txBody>
      </p:sp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59298222-28B1-A2E8-55FF-FFE37D97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Metode / </a:t>
            </a:r>
            <a:r>
              <a:rPr lang="en-US" dirty="0" err="1"/>
              <a:t>Algoritma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297956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27F6E1A-6718-0CCE-091D-98EEA49A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DA1F5D11-30CD-0E09-0E5A-36F75D492837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2" name="Google Shape;182;p31">
            <a:extLst>
              <a:ext uri="{FF2B5EF4-FFF2-40B4-BE49-F238E27FC236}">
                <a16:creationId xmlns:a16="http://schemas.microsoft.com/office/drawing/2014/main" id="{5129F0EF-DA30-E9F5-1EB6-7F70A41F4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5100" y="980328"/>
            <a:ext cx="7783701" cy="3182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200" dirty="0"/>
              <a:t>Task 1 — KNN vs 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Split data: 70% train (105 data) : 30% test (45 data),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sesuai</a:t>
            </a:r>
            <a:r>
              <a:rPr lang="en-US" sz="1200" dirty="0"/>
              <a:t> </a:t>
            </a:r>
            <a:r>
              <a:rPr lang="en-US" sz="1200" dirty="0" err="1"/>
              <a:t>proporsi</a:t>
            </a:r>
            <a:r>
              <a:rPr lang="en-US" sz="1200" dirty="0"/>
              <a:t> 10-fold CV.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Parameter KNN: tuning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i="1" dirty="0"/>
              <a:t>k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1–20, k optimal = 8 (</a:t>
            </a:r>
            <a:r>
              <a:rPr lang="en-US" sz="1200" dirty="0" err="1"/>
              <a:t>akurasi</a:t>
            </a:r>
            <a:r>
              <a:rPr lang="en-US" sz="1200" dirty="0"/>
              <a:t> CV </a:t>
            </a:r>
            <a:r>
              <a:rPr lang="en-US" sz="1200" dirty="0" err="1"/>
              <a:t>tertinggi</a:t>
            </a:r>
            <a:r>
              <a:rPr lang="en-US" sz="1200" dirty="0"/>
              <a:t> ~0.967).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Parameter Random Forest: default </a:t>
            </a:r>
            <a:r>
              <a:rPr lang="en-US" sz="1200" dirty="0" err="1"/>
              <a:t>n_estimators</a:t>
            </a:r>
            <a:r>
              <a:rPr lang="en-US" sz="1200" dirty="0"/>
              <a:t> (scikit-learn), </a:t>
            </a:r>
            <a:r>
              <a:rPr lang="en-US" sz="1200" dirty="0" err="1"/>
              <a:t>evaluasi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10-fold Cross Validation.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Task 2 — Fuzzy C-Means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Jumlah</a:t>
            </a:r>
            <a:r>
              <a:rPr lang="en-US" sz="1200" dirty="0"/>
              <a:t> cluster (c) = 3 (</a:t>
            </a:r>
            <a:r>
              <a:rPr lang="en-US" sz="1200" dirty="0" err="1"/>
              <a:t>disesuaikan</a:t>
            </a:r>
            <a:r>
              <a:rPr lang="en-US" sz="1200" dirty="0"/>
              <a:t> </a:t>
            </a: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</a:t>
            </a:r>
            <a:r>
              <a:rPr lang="en-US" sz="1200" dirty="0" err="1"/>
              <a:t>asli</a:t>
            </a:r>
            <a:r>
              <a:rPr lang="en-US" sz="12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Iterasi</a:t>
            </a:r>
            <a:r>
              <a:rPr lang="en-US" sz="1200" dirty="0"/>
              <a:t> </a:t>
            </a:r>
            <a:r>
              <a:rPr lang="en-US" sz="1200" dirty="0" err="1"/>
              <a:t>konvergensi</a:t>
            </a:r>
            <a:r>
              <a:rPr lang="en-US" sz="1200" dirty="0"/>
              <a:t>: objective function </a:t>
            </a:r>
            <a:r>
              <a:rPr lang="en-US" sz="1200" dirty="0" err="1"/>
              <a:t>turun</a:t>
            </a:r>
            <a:r>
              <a:rPr lang="en-US" sz="1200" dirty="0"/>
              <a:t> </a:t>
            </a:r>
            <a:r>
              <a:rPr lang="en-US" sz="1200" dirty="0" err="1"/>
              <a:t>tajam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±250 </a:t>
            </a:r>
            <a:r>
              <a:rPr lang="en-US" sz="1200" dirty="0" err="1"/>
              <a:t>menuju</a:t>
            </a:r>
            <a:r>
              <a:rPr lang="en-US" sz="1200" dirty="0"/>
              <a:t> </a:t>
            </a:r>
            <a:r>
              <a:rPr lang="en-US" sz="1200" dirty="0" err="1"/>
              <a:t>stabil</a:t>
            </a:r>
            <a:r>
              <a:rPr lang="en-US" sz="1200" dirty="0"/>
              <a:t> di ±100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iterasi</a:t>
            </a:r>
            <a:r>
              <a:rPr lang="en-US" sz="1200" dirty="0"/>
              <a:t> ke-5.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Fuzziness parameter (m) </a:t>
            </a:r>
            <a:r>
              <a:rPr lang="en-US" sz="1200" dirty="0" err="1"/>
              <a:t>umumnya</a:t>
            </a:r>
            <a:r>
              <a:rPr lang="en-US" sz="1200" dirty="0"/>
              <a:t> = 2 (default FCM).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Task 3 — RapidMiner vs Orange (Decision Tree)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Data split: 105 train : 45 test (30 test </a:t>
            </a:r>
            <a:r>
              <a:rPr lang="en-US" sz="1200" dirty="0" err="1"/>
              <a:t>tiap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</a:t>
            </a:r>
            <a:r>
              <a:rPr lang="en-US" sz="1200" dirty="0" err="1"/>
              <a:t>menurut</a:t>
            </a:r>
            <a:r>
              <a:rPr lang="en-US" sz="1200" dirty="0"/>
              <a:t> confusion matrix,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sesuai</a:t>
            </a:r>
            <a:r>
              <a:rPr lang="en-US" sz="1200" dirty="0"/>
              <a:t> split di </a:t>
            </a:r>
            <a:r>
              <a:rPr lang="en-US" sz="1200" dirty="0" err="1"/>
              <a:t>gambar</a:t>
            </a:r>
            <a:r>
              <a:rPr lang="en-US" sz="1200" dirty="0"/>
              <a:t>: 15 </a:t>
            </a:r>
            <a:r>
              <a:rPr lang="en-US" sz="1200" dirty="0" err="1"/>
              <a:t>sampel</a:t>
            </a:r>
            <a:r>
              <a:rPr lang="en-US" sz="1200" dirty="0"/>
              <a:t> test/</a:t>
            </a:r>
            <a:r>
              <a:rPr lang="en-US" sz="1200" dirty="0" err="1"/>
              <a:t>kelas</a:t>
            </a:r>
            <a:r>
              <a:rPr lang="en-US" sz="12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RapidMiner: depth </a:t>
            </a:r>
            <a:r>
              <a:rPr lang="en-US" sz="1200" dirty="0" err="1"/>
              <a:t>dibatasi</a:t>
            </a:r>
            <a:r>
              <a:rPr lang="en-US" sz="1200" dirty="0"/>
              <a:t> ≤ 10 (pruning </a:t>
            </a:r>
            <a:r>
              <a:rPr lang="en-US" sz="1200" dirty="0" err="1"/>
              <a:t>aktif</a:t>
            </a:r>
            <a:r>
              <a:rPr lang="en-US" sz="1200" dirty="0"/>
              <a:t>) → depth </a:t>
            </a:r>
            <a:r>
              <a:rPr lang="en-US" sz="1200" dirty="0" err="1"/>
              <a:t>aktual</a:t>
            </a:r>
            <a:r>
              <a:rPr lang="en-US" sz="1200" dirty="0"/>
              <a:t> = 4, </a:t>
            </a: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daun</a:t>
            </a:r>
            <a:r>
              <a:rPr lang="en-US" sz="1200" dirty="0"/>
              <a:t> = 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Orange: depth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dibatasi</a:t>
            </a:r>
            <a:r>
              <a:rPr lang="en-US" sz="1200" dirty="0"/>
              <a:t> → depth </a:t>
            </a:r>
            <a:r>
              <a:rPr lang="en-US" sz="1200" dirty="0" err="1"/>
              <a:t>aktual</a:t>
            </a:r>
            <a:r>
              <a:rPr lang="en-US" sz="1200" dirty="0"/>
              <a:t> = 5, </a:t>
            </a: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daun</a:t>
            </a:r>
            <a:r>
              <a:rPr lang="en-US" sz="1200" dirty="0"/>
              <a:t> = 8.</a:t>
            </a:r>
          </a:p>
        </p:txBody>
      </p:sp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27ED6AE9-20C3-F21C-B964-FDE8FD2730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Proses Modeling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160019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E9E46ACA-4936-343F-3547-B7158FE2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C4D7100D-8A38-0B6A-B084-B2F4AD678FDE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2" name="Google Shape;182;p31">
            <a:extLst>
              <a:ext uri="{FF2B5EF4-FFF2-40B4-BE49-F238E27FC236}">
                <a16:creationId xmlns:a16="http://schemas.microsoft.com/office/drawing/2014/main" id="{3B81BC0D-4996-2C3A-27C4-452BC3D8C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975" y="3248662"/>
            <a:ext cx="7783701" cy="12905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Confusion Matrix KNN: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setosa</a:t>
            </a:r>
            <a:r>
              <a:rPr lang="en-US" sz="1200" dirty="0"/>
              <a:t> &amp; versicolor </a:t>
            </a:r>
            <a:r>
              <a:rPr lang="en-US" sz="1200" dirty="0" err="1"/>
              <a:t>benar</a:t>
            </a:r>
            <a:r>
              <a:rPr lang="en-US" sz="1200" dirty="0"/>
              <a:t>; 2 virginica salah </a:t>
            </a:r>
            <a:r>
              <a:rPr lang="en-US" sz="1200" dirty="0" err="1"/>
              <a:t>diprediksi</a:t>
            </a:r>
            <a:r>
              <a:rPr lang="en-US" sz="1200" dirty="0"/>
              <a:t> versicolor.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Confusion Matrix RF: 1 versicolor salah </a:t>
            </a:r>
            <a:r>
              <a:rPr lang="en-US" sz="1200" dirty="0" err="1"/>
              <a:t>ke</a:t>
            </a:r>
            <a:r>
              <a:rPr lang="en-US" sz="1200" dirty="0"/>
              <a:t> virginica, 1 virginica salah </a:t>
            </a:r>
            <a:r>
              <a:rPr lang="en-US" sz="1200" dirty="0" err="1"/>
              <a:t>ke</a:t>
            </a:r>
            <a:r>
              <a:rPr lang="en-US" sz="1200" dirty="0"/>
              <a:t> versicolor.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Analisis</a:t>
            </a:r>
            <a:r>
              <a:rPr lang="en-US" sz="1200" dirty="0"/>
              <a:t>: </a:t>
            </a:r>
            <a:r>
              <a:rPr lang="en-US" sz="1200" dirty="0" err="1"/>
              <a:t>Kedua</a:t>
            </a:r>
            <a:r>
              <a:rPr lang="en-US" sz="1200" dirty="0"/>
              <a:t> model punya </a:t>
            </a:r>
            <a:r>
              <a:rPr lang="en-US" sz="1200" dirty="0" err="1"/>
              <a:t>akurasi</a:t>
            </a:r>
            <a:r>
              <a:rPr lang="en-US" sz="1200" dirty="0"/>
              <a:t> </a:t>
            </a:r>
            <a:r>
              <a:rPr lang="en-US" sz="1200" dirty="0" err="1"/>
              <a:t>setara</a:t>
            </a:r>
            <a:r>
              <a:rPr lang="en-US" sz="1200" dirty="0"/>
              <a:t>; </a:t>
            </a:r>
            <a:r>
              <a:rPr lang="en-US" sz="1200" dirty="0" err="1"/>
              <a:t>kesalahan</a:t>
            </a:r>
            <a:r>
              <a:rPr lang="en-US" sz="1200" dirty="0"/>
              <a:t> </a:t>
            </a:r>
            <a:r>
              <a:rPr lang="en-US" sz="1200" dirty="0" err="1"/>
              <a:t>klasifikasi</a:t>
            </a:r>
            <a:r>
              <a:rPr lang="en-US" sz="1200" dirty="0"/>
              <a:t> </a:t>
            </a:r>
            <a:r>
              <a:rPr lang="en-US" sz="1200" dirty="0" err="1"/>
              <a:t>terkonsentrasi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versicolor-virginica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kedua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memang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fitur</a:t>
            </a:r>
            <a:r>
              <a:rPr lang="en-US" sz="1200" dirty="0"/>
              <a:t> yang </a:t>
            </a:r>
            <a:r>
              <a:rPr lang="en-US" sz="1200" dirty="0" err="1"/>
              <a:t>saling</a:t>
            </a:r>
            <a:r>
              <a:rPr lang="en-US" sz="1200" dirty="0"/>
              <a:t> </a:t>
            </a:r>
            <a:r>
              <a:rPr lang="en-US" sz="1200" dirty="0" err="1"/>
              <a:t>tumpang</a:t>
            </a:r>
            <a:r>
              <a:rPr lang="en-US" sz="1200" dirty="0"/>
              <a:t> </a:t>
            </a:r>
            <a:r>
              <a:rPr lang="en-US" sz="1200" dirty="0" err="1"/>
              <a:t>tindih</a:t>
            </a:r>
            <a:r>
              <a:rPr lang="en-US" sz="1200" dirty="0"/>
              <a:t> (</a:t>
            </a:r>
            <a:r>
              <a:rPr lang="en-US" sz="1200" dirty="0" err="1"/>
              <a:t>terlihat</a:t>
            </a:r>
            <a:r>
              <a:rPr lang="en-US" sz="1200" dirty="0"/>
              <a:t> juga di </a:t>
            </a:r>
            <a:r>
              <a:rPr lang="en-US" sz="1200" dirty="0" err="1"/>
              <a:t>hasil</a:t>
            </a:r>
            <a:r>
              <a:rPr lang="en-US" sz="1200" dirty="0"/>
              <a:t> clustering Task 2). Petal width &amp; petal length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fitur</a:t>
            </a:r>
            <a:r>
              <a:rPr lang="en-US" sz="1200" dirty="0"/>
              <a:t> paling </a:t>
            </a:r>
            <a:r>
              <a:rPr lang="en-US" sz="1200" dirty="0" err="1"/>
              <a:t>berpengaruh</a:t>
            </a:r>
            <a:r>
              <a:rPr lang="en-US" sz="1200" dirty="0"/>
              <a:t> </a:t>
            </a:r>
            <a:r>
              <a:rPr lang="en-US" sz="1200" dirty="0" err="1"/>
              <a:t>menurut</a:t>
            </a:r>
            <a:r>
              <a:rPr lang="en-US" sz="1200" dirty="0"/>
              <a:t> feature importance RF.</a:t>
            </a:r>
          </a:p>
        </p:txBody>
      </p:sp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B7269D8F-AA9A-FADC-7005-2903FF583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Hasil &amp; </a:t>
            </a:r>
            <a:r>
              <a:rPr lang="en-US" dirty="0" err="1"/>
              <a:t>Evaluasi</a:t>
            </a:r>
            <a:r>
              <a:rPr lang="en-US" dirty="0"/>
              <a:t> Model - Task 1</a:t>
            </a:r>
            <a:endParaRPr i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927692-8DB4-AB4A-3565-25599A377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797146"/>
              </p:ext>
            </p:extLst>
          </p:nvPr>
        </p:nvGraphicFramePr>
        <p:xfrm>
          <a:off x="653123" y="1375391"/>
          <a:ext cx="7680576" cy="1747430"/>
        </p:xfrm>
        <a:graphic>
          <a:graphicData uri="http://schemas.openxmlformats.org/drawingml/2006/table">
            <a:tbl>
              <a:tblPr firstRow="1" bandRow="1">
                <a:tableStyleId>{B521D955-1A6E-4D15-B88D-BD15677DF0F3}</a:tableStyleId>
              </a:tblPr>
              <a:tblGrid>
                <a:gridCol w="2560192">
                  <a:extLst>
                    <a:ext uri="{9D8B030D-6E8A-4147-A177-3AD203B41FA5}">
                      <a16:colId xmlns:a16="http://schemas.microsoft.com/office/drawing/2014/main" val="2914249352"/>
                    </a:ext>
                  </a:extLst>
                </a:gridCol>
                <a:gridCol w="2560192">
                  <a:extLst>
                    <a:ext uri="{9D8B030D-6E8A-4147-A177-3AD203B41FA5}">
                      <a16:colId xmlns:a16="http://schemas.microsoft.com/office/drawing/2014/main" val="2722411901"/>
                    </a:ext>
                  </a:extLst>
                </a:gridCol>
                <a:gridCol w="2560192">
                  <a:extLst>
                    <a:ext uri="{9D8B030D-6E8A-4147-A177-3AD203B41FA5}">
                      <a16:colId xmlns:a16="http://schemas.microsoft.com/office/drawing/2014/main" val="2292596120"/>
                    </a:ext>
                  </a:extLst>
                </a:gridCol>
              </a:tblGrid>
              <a:tr h="28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Viaoda Libre" panose="020B0604020202020204" charset="0"/>
                        </a:rPr>
                        <a:t>Metrik</a:t>
                      </a:r>
                      <a:endParaRPr lang="en-US" dirty="0">
                        <a:latin typeface="Viaoda Libre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iaoda Libre" panose="020B0604020202020204" charset="0"/>
                        </a:rPr>
                        <a:t>KNN (k=8)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iaoda Libre" panose="020B0604020202020204" charset="0"/>
                        </a:rPr>
                        <a:t>Random Forest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348765"/>
                  </a:ext>
                </a:extLst>
              </a:tr>
              <a:tr h="28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123846"/>
                  </a:ext>
                </a:extLst>
              </a:tr>
              <a:tr h="28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753548"/>
                  </a:ext>
                </a:extLst>
              </a:tr>
              <a:tr h="28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15667"/>
                  </a:ext>
                </a:extLst>
              </a:tr>
              <a:tr h="28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0.933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147023"/>
                  </a:ext>
                </a:extLst>
              </a:tr>
              <a:tr h="28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CV Mean (10-fold)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0.953–0.967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~0.947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038724"/>
                  </a:ext>
                </a:extLst>
              </a:tr>
            </a:tbl>
          </a:graphicData>
        </a:graphic>
      </p:graphicFrame>
      <p:sp>
        <p:nvSpPr>
          <p:cNvPr id="9" name="Google Shape;182;p31">
            <a:extLst>
              <a:ext uri="{FF2B5EF4-FFF2-40B4-BE49-F238E27FC236}">
                <a16:creationId xmlns:a16="http://schemas.microsoft.com/office/drawing/2014/main" id="{A867CC61-D673-BAE6-8EE8-9D3DEDCFD638}"/>
              </a:ext>
            </a:extLst>
          </p:cNvPr>
          <p:cNvSpPr txBox="1">
            <a:spLocks/>
          </p:cNvSpPr>
          <p:nvPr/>
        </p:nvSpPr>
        <p:spPr>
          <a:xfrm>
            <a:off x="411974" y="880547"/>
            <a:ext cx="7783701" cy="129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>
              <a:buNone/>
            </a:pPr>
            <a:r>
              <a:rPr lang="en-US" sz="1200" dirty="0"/>
              <a:t>Task 1 — KNN vs Random Forest</a:t>
            </a:r>
          </a:p>
        </p:txBody>
      </p:sp>
    </p:spTree>
    <p:extLst>
      <p:ext uri="{BB962C8B-B14F-4D97-AF65-F5344CB8AC3E}">
        <p14:creationId xmlns:p14="http://schemas.microsoft.com/office/powerpoint/2010/main" val="33209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5FB813D-0403-089A-A471-EDC61C9F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63EFF423-768B-47F3-A280-A462373C8A4F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96510A4E-B618-4455-5C77-9D5E2CFF3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Hasil &amp; </a:t>
            </a:r>
            <a:r>
              <a:rPr lang="en-US" dirty="0" err="1"/>
              <a:t>Evaluasi</a:t>
            </a:r>
            <a:r>
              <a:rPr lang="en-US" dirty="0"/>
              <a:t> Model - Task 2 </a:t>
            </a:r>
            <a:endParaRPr i="1" dirty="0"/>
          </a:p>
        </p:txBody>
      </p:sp>
      <p:sp>
        <p:nvSpPr>
          <p:cNvPr id="9" name="Google Shape;182;p31">
            <a:extLst>
              <a:ext uri="{FF2B5EF4-FFF2-40B4-BE49-F238E27FC236}">
                <a16:creationId xmlns:a16="http://schemas.microsoft.com/office/drawing/2014/main" id="{465E2B20-A458-4368-4AE6-E36FB1471CE9}"/>
              </a:ext>
            </a:extLst>
          </p:cNvPr>
          <p:cNvSpPr txBox="1">
            <a:spLocks/>
          </p:cNvSpPr>
          <p:nvPr/>
        </p:nvSpPr>
        <p:spPr>
          <a:xfrm>
            <a:off x="411974" y="880547"/>
            <a:ext cx="7783701" cy="129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>
              <a:buNone/>
            </a:pPr>
            <a:r>
              <a:rPr lang="en-US" sz="1200" dirty="0"/>
              <a:t>Task 2 — Fuzzy C-Means</a:t>
            </a:r>
          </a:p>
          <a:p>
            <a:pPr marL="139700" indent="0">
              <a:buNone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Adjusted Rand Index (ARI): 0.6303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Silhouette Score: 0.4584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Fuzzy Partition Coefficient (FPC): 0.7065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Analisis</a:t>
            </a:r>
            <a:r>
              <a:rPr lang="en-US" sz="1200" dirty="0"/>
              <a:t>: Cluster 0 (</a:t>
            </a:r>
            <a:r>
              <a:rPr lang="en-US" sz="1200" dirty="0" err="1"/>
              <a:t>setosa</a:t>
            </a:r>
            <a:r>
              <a:rPr lang="en-US" sz="1200" dirty="0"/>
              <a:t>) </a:t>
            </a:r>
            <a:r>
              <a:rPr lang="en-US" sz="1200" dirty="0" err="1"/>
              <a:t>terpisah</a:t>
            </a:r>
            <a:r>
              <a:rPr lang="en-US" sz="1200" dirty="0"/>
              <a:t> sangat </a:t>
            </a:r>
            <a:r>
              <a:rPr lang="en-US" sz="1200" dirty="0" err="1"/>
              <a:t>jelas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2 cluster lain </a:t>
            </a:r>
            <a:r>
              <a:rPr lang="en-US" sz="1200" dirty="0" err="1"/>
              <a:t>sejak</a:t>
            </a:r>
            <a:r>
              <a:rPr lang="en-US" sz="1200" dirty="0"/>
              <a:t> </a:t>
            </a:r>
            <a:r>
              <a:rPr lang="en-US" sz="1200" dirty="0" err="1"/>
              <a:t>awal</a:t>
            </a:r>
            <a:r>
              <a:rPr lang="en-US" sz="1200" dirty="0"/>
              <a:t>. Cluster 1 &amp; 2 (versicolor/virginica) </a:t>
            </a:r>
            <a:r>
              <a:rPr lang="en-US" sz="1200" dirty="0" err="1"/>
              <a:t>saling</a:t>
            </a:r>
            <a:r>
              <a:rPr lang="en-US" sz="1200" dirty="0"/>
              <a:t> </a:t>
            </a:r>
            <a:r>
              <a:rPr lang="en-US" sz="1200" dirty="0" err="1"/>
              <a:t>tumpang</a:t>
            </a:r>
            <a:r>
              <a:rPr lang="en-US" sz="1200" dirty="0"/>
              <a:t> </a:t>
            </a:r>
            <a:r>
              <a:rPr lang="en-US" sz="1200" dirty="0" err="1"/>
              <a:t>tindih</a:t>
            </a:r>
            <a:r>
              <a:rPr lang="en-US" sz="1200" dirty="0"/>
              <a:t>, </a:t>
            </a:r>
            <a:r>
              <a:rPr lang="en-US" sz="1200" dirty="0" err="1"/>
              <a:t>tercermin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keanggotaan</a:t>
            </a:r>
            <a:r>
              <a:rPr lang="en-US" sz="1200" dirty="0"/>
              <a:t> fuzzy yang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ekstrem</a:t>
            </a:r>
            <a:r>
              <a:rPr lang="en-US" sz="1200" dirty="0"/>
              <a:t> (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sampel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membership 0.4–0.6 di </a:t>
            </a:r>
            <a:r>
              <a:rPr lang="en-US" sz="1200" dirty="0" err="1"/>
              <a:t>kedua</a:t>
            </a:r>
            <a:r>
              <a:rPr lang="en-US" sz="1200" dirty="0"/>
              <a:t> cluster). Ini </a:t>
            </a:r>
            <a:r>
              <a:rPr lang="en-US" sz="1200" dirty="0" err="1"/>
              <a:t>konsisten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confusion matrix di Task 1.</a:t>
            </a:r>
          </a:p>
        </p:txBody>
      </p:sp>
    </p:spTree>
    <p:extLst>
      <p:ext uri="{BB962C8B-B14F-4D97-AF65-F5344CB8AC3E}">
        <p14:creationId xmlns:p14="http://schemas.microsoft.com/office/powerpoint/2010/main" val="14655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2D6B6261-F661-B80D-FD03-C517B7A9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12A724A6-FD8F-AB63-BEEF-CEDB12D4FD93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6581027B-F54E-6DBF-F40B-0CDF5783C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Hasil &amp; </a:t>
            </a:r>
            <a:r>
              <a:rPr lang="en-US" dirty="0" err="1"/>
              <a:t>Evaluasi</a:t>
            </a:r>
            <a:r>
              <a:rPr lang="en-US" dirty="0"/>
              <a:t> Model - Task 3 </a:t>
            </a:r>
            <a:endParaRPr i="1" dirty="0"/>
          </a:p>
        </p:txBody>
      </p:sp>
      <p:sp>
        <p:nvSpPr>
          <p:cNvPr id="9" name="Google Shape;182;p31">
            <a:extLst>
              <a:ext uri="{FF2B5EF4-FFF2-40B4-BE49-F238E27FC236}">
                <a16:creationId xmlns:a16="http://schemas.microsoft.com/office/drawing/2014/main" id="{67E1F19A-CEEE-F0C9-01BE-BF83947A0482}"/>
              </a:ext>
            </a:extLst>
          </p:cNvPr>
          <p:cNvSpPr txBox="1">
            <a:spLocks/>
          </p:cNvSpPr>
          <p:nvPr/>
        </p:nvSpPr>
        <p:spPr>
          <a:xfrm>
            <a:off x="411974" y="880547"/>
            <a:ext cx="7783701" cy="3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>
              <a:buNone/>
            </a:pPr>
            <a:r>
              <a:rPr lang="en-US" sz="1200" dirty="0"/>
              <a:t>Task 3 — RapidMiner vs Orange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7379D5-55CD-08D7-6914-71E1D01E8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905940"/>
              </p:ext>
            </p:extLst>
          </p:nvPr>
        </p:nvGraphicFramePr>
        <p:xfrm>
          <a:off x="638354" y="1296233"/>
          <a:ext cx="7557321" cy="2118360"/>
        </p:xfrm>
        <a:graphic>
          <a:graphicData uri="http://schemas.openxmlformats.org/drawingml/2006/table">
            <a:tbl>
              <a:tblPr firstRow="1" bandRow="1">
                <a:tableStyleId>{B521D955-1A6E-4D15-B88D-BD15677DF0F3}</a:tableStyleId>
              </a:tblPr>
              <a:tblGrid>
                <a:gridCol w="2519107">
                  <a:extLst>
                    <a:ext uri="{9D8B030D-6E8A-4147-A177-3AD203B41FA5}">
                      <a16:colId xmlns:a16="http://schemas.microsoft.com/office/drawing/2014/main" val="3658585430"/>
                    </a:ext>
                  </a:extLst>
                </a:gridCol>
                <a:gridCol w="2519107">
                  <a:extLst>
                    <a:ext uri="{9D8B030D-6E8A-4147-A177-3AD203B41FA5}">
                      <a16:colId xmlns:a16="http://schemas.microsoft.com/office/drawing/2014/main" val="3350368962"/>
                    </a:ext>
                  </a:extLst>
                </a:gridCol>
                <a:gridCol w="2519107">
                  <a:extLst>
                    <a:ext uri="{9D8B030D-6E8A-4147-A177-3AD203B41FA5}">
                      <a16:colId xmlns:a16="http://schemas.microsoft.com/office/drawing/2014/main" val="3821509310"/>
                    </a:ext>
                  </a:extLst>
                </a:gridCol>
              </a:tblGrid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Viaoda Libre" panose="020B0604020202020204" charset="0"/>
                        </a:rPr>
                        <a:t>Metrik</a:t>
                      </a:r>
                      <a:endParaRPr lang="en-US" dirty="0">
                        <a:latin typeface="Viaoda Libre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iaoda Libre" panose="020B0604020202020204" charset="0"/>
                        </a:rPr>
                        <a:t>RapidMiner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iaoda Libre" panose="020B0604020202020204" charset="0"/>
                        </a:rPr>
                        <a:t>Orange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377629"/>
                  </a:ext>
                </a:extLst>
              </a:tr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0.8889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902338"/>
                  </a:ext>
                </a:extLst>
              </a:tr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0.898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701001"/>
                  </a:ext>
                </a:extLst>
              </a:tr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443045"/>
                  </a:ext>
                </a:extLst>
              </a:tr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0.888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193920"/>
                  </a:ext>
                </a:extLst>
              </a:tr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CV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424921"/>
                  </a:ext>
                </a:extLst>
              </a:tr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Tree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332159"/>
                  </a:ext>
                </a:extLst>
              </a:tr>
              <a:tr h="227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Jumlah Daun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225514"/>
                  </a:ext>
                </a:extLst>
              </a:tr>
            </a:tbl>
          </a:graphicData>
        </a:graphic>
      </p:graphicFrame>
      <p:sp>
        <p:nvSpPr>
          <p:cNvPr id="4" name="Google Shape;182;p31">
            <a:extLst>
              <a:ext uri="{FF2B5EF4-FFF2-40B4-BE49-F238E27FC236}">
                <a16:creationId xmlns:a16="http://schemas.microsoft.com/office/drawing/2014/main" id="{7EF7370C-9618-B726-C118-021334358B4B}"/>
              </a:ext>
            </a:extLst>
          </p:cNvPr>
          <p:cNvSpPr txBox="1">
            <a:spLocks/>
          </p:cNvSpPr>
          <p:nvPr/>
        </p:nvSpPr>
        <p:spPr>
          <a:xfrm>
            <a:off x="411973" y="3524947"/>
            <a:ext cx="7783701" cy="3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>
              <a:buNone/>
            </a:pPr>
            <a:r>
              <a:rPr lang="en-US" sz="1200" dirty="0" err="1"/>
              <a:t>Analisis</a:t>
            </a:r>
            <a:r>
              <a:rPr lang="en-US" sz="1200" dirty="0"/>
              <a:t>: RapidMiner </a:t>
            </a:r>
            <a:r>
              <a:rPr lang="en-US" sz="1200" dirty="0" err="1"/>
              <a:t>menghasilkan</a:t>
            </a:r>
            <a:r>
              <a:rPr lang="en-US" sz="1200" dirty="0"/>
              <a:t> tree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ringkas</a:t>
            </a:r>
            <a:r>
              <a:rPr lang="en-US" sz="1200" dirty="0"/>
              <a:t> (pruning </a:t>
            </a:r>
            <a:r>
              <a:rPr lang="en-US" sz="1200" dirty="0" err="1"/>
              <a:t>aktif</a:t>
            </a:r>
            <a:r>
              <a:rPr lang="en-US" sz="1200" dirty="0"/>
              <a:t>, depth 4), </a:t>
            </a:r>
            <a:r>
              <a:rPr lang="en-US" sz="1200" dirty="0" err="1"/>
              <a:t>sedikit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rendah</a:t>
            </a:r>
            <a:r>
              <a:rPr lang="en-US" sz="1200" dirty="0"/>
              <a:t> </a:t>
            </a:r>
            <a:r>
              <a:rPr lang="en-US" sz="1200" dirty="0" err="1"/>
              <a:t>akurasi</a:t>
            </a:r>
            <a:r>
              <a:rPr lang="en-US" sz="1200" dirty="0"/>
              <a:t> test </a:t>
            </a:r>
            <a:r>
              <a:rPr lang="en-US" sz="1200" dirty="0" err="1"/>
              <a:t>namun</a:t>
            </a:r>
            <a:r>
              <a:rPr lang="en-US" sz="1200" dirty="0"/>
              <a:t> CV mean-</a:t>
            </a:r>
            <a:r>
              <a:rPr lang="en-US" sz="1200" dirty="0" err="1"/>
              <a:t>nya</a:t>
            </a:r>
            <a:r>
              <a:rPr lang="en-US" sz="1200" dirty="0"/>
              <a:t> </a:t>
            </a:r>
            <a:r>
              <a:rPr lang="en-US" sz="1200" dirty="0" err="1"/>
              <a:t>justru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— </a:t>
            </a:r>
            <a:r>
              <a:rPr lang="en-US" sz="1200" dirty="0" err="1"/>
              <a:t>indikasi</a:t>
            </a:r>
            <a:r>
              <a:rPr lang="en-US" sz="1200" dirty="0"/>
              <a:t> model </a:t>
            </a:r>
            <a:r>
              <a:rPr lang="en-US" sz="1200" dirty="0" err="1"/>
              <a:t>lebih</a:t>
            </a:r>
            <a:r>
              <a:rPr lang="en-US" sz="1200" dirty="0"/>
              <a:t> general. Orange </a:t>
            </a:r>
            <a:r>
              <a:rPr lang="en-US" sz="1200" dirty="0" err="1"/>
              <a:t>menghasilkan</a:t>
            </a:r>
            <a:r>
              <a:rPr lang="en-US" sz="1200" dirty="0"/>
              <a:t> tree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(depth 5, </a:t>
            </a:r>
            <a:r>
              <a:rPr lang="en-US" sz="1200" dirty="0" err="1"/>
              <a:t>tanpa</a:t>
            </a:r>
            <a:r>
              <a:rPr lang="en-US" sz="1200" dirty="0"/>
              <a:t> </a:t>
            </a:r>
            <a:r>
              <a:rPr lang="en-US" sz="1200" dirty="0" err="1"/>
              <a:t>pembatasan</a:t>
            </a:r>
            <a:r>
              <a:rPr lang="en-US" sz="1200" dirty="0"/>
              <a:t>) dan </a:t>
            </a:r>
            <a:r>
              <a:rPr lang="en-US" sz="1200" dirty="0" err="1"/>
              <a:t>akurasi</a:t>
            </a:r>
            <a:r>
              <a:rPr lang="en-US" sz="1200" dirty="0"/>
              <a:t> test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, </a:t>
            </a:r>
            <a:r>
              <a:rPr lang="en-US" sz="1200" dirty="0" err="1"/>
              <a:t>tapi</a:t>
            </a:r>
            <a:r>
              <a:rPr lang="en-US" sz="1200" dirty="0"/>
              <a:t> </a:t>
            </a:r>
            <a:r>
              <a:rPr lang="en-US" sz="1200" dirty="0" err="1"/>
              <a:t>berpotensi</a:t>
            </a:r>
            <a:r>
              <a:rPr lang="en-US" sz="1200" dirty="0"/>
              <a:t> overfitting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kompleksitas</a:t>
            </a:r>
            <a:r>
              <a:rPr lang="en-US" sz="1200" dirty="0"/>
              <a:t> tree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042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635F3349-6E45-FBD0-3110-EF16093D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9456B9CF-A467-DFE2-CE36-128411DC41CB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6F523DC0-C11E-387E-F111-04C0F8073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35847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Kesimpulan</a:t>
            </a:r>
            <a:endParaRPr i="1" dirty="0"/>
          </a:p>
        </p:txBody>
      </p:sp>
      <p:sp>
        <p:nvSpPr>
          <p:cNvPr id="9" name="Google Shape;182;p31">
            <a:extLst>
              <a:ext uri="{FF2B5EF4-FFF2-40B4-BE49-F238E27FC236}">
                <a16:creationId xmlns:a16="http://schemas.microsoft.com/office/drawing/2014/main" id="{6DA03173-06CA-F947-C1FD-0D95BFFF4C91}"/>
              </a:ext>
            </a:extLst>
          </p:cNvPr>
          <p:cNvSpPr txBox="1">
            <a:spLocks/>
          </p:cNvSpPr>
          <p:nvPr/>
        </p:nvSpPr>
        <p:spPr>
          <a:xfrm>
            <a:off x="411974" y="880547"/>
            <a:ext cx="7783701" cy="3286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>
              <a:buNone/>
            </a:pPr>
            <a:r>
              <a:rPr lang="en-US" sz="1100" dirty="0" err="1"/>
              <a:t>Ringkasan</a:t>
            </a:r>
            <a:r>
              <a:rPr lang="en-US" sz="1100" dirty="0"/>
              <a:t> </a:t>
            </a:r>
            <a:r>
              <a:rPr lang="en-US" sz="1100" dirty="0" err="1"/>
              <a:t>hasil</a:t>
            </a:r>
            <a:r>
              <a:rPr lang="en-US" sz="11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100" dirty="0"/>
              <a:t>KNN dan Random Forest </a:t>
            </a:r>
            <a:r>
              <a:rPr lang="en-US" sz="1100" dirty="0" err="1"/>
              <a:t>memberikan</a:t>
            </a:r>
            <a:r>
              <a:rPr lang="en-US" sz="1100" dirty="0"/>
              <a:t> </a:t>
            </a:r>
            <a:r>
              <a:rPr lang="en-US" sz="1100" dirty="0" err="1"/>
              <a:t>performa</a:t>
            </a:r>
            <a:r>
              <a:rPr lang="en-US" sz="1100" dirty="0"/>
              <a:t> yang </a:t>
            </a:r>
            <a:r>
              <a:rPr lang="en-US" sz="1100" dirty="0" err="1"/>
              <a:t>hampir</a:t>
            </a:r>
            <a:r>
              <a:rPr lang="en-US" sz="1100" dirty="0"/>
              <a:t> </a:t>
            </a:r>
            <a:r>
              <a:rPr lang="en-US" sz="1100" dirty="0" err="1"/>
              <a:t>setara</a:t>
            </a:r>
            <a:r>
              <a:rPr lang="en-US" sz="1100" dirty="0"/>
              <a:t> (</a:t>
            </a:r>
            <a:r>
              <a:rPr lang="en-US" sz="1100" dirty="0" err="1"/>
              <a:t>akurasi</a:t>
            </a:r>
            <a:r>
              <a:rPr lang="en-US" sz="1100" dirty="0"/>
              <a:t> 93,3%) pada dataset Iris; </a:t>
            </a:r>
            <a:r>
              <a:rPr lang="en-US" sz="1100" dirty="0" err="1"/>
              <a:t>kesalahan</a:t>
            </a:r>
            <a:r>
              <a:rPr lang="en-US" sz="1100" dirty="0"/>
              <a:t> </a:t>
            </a:r>
            <a:r>
              <a:rPr lang="en-US" sz="1100" dirty="0" err="1"/>
              <a:t>klasifikasi</a:t>
            </a:r>
            <a:r>
              <a:rPr lang="en-US" sz="1100" dirty="0"/>
              <a:t> </a:t>
            </a:r>
            <a:r>
              <a:rPr lang="en-US" sz="1100" dirty="0" err="1"/>
              <a:t>terkonsentrasi</a:t>
            </a:r>
            <a:r>
              <a:rPr lang="en-US" sz="1100" dirty="0"/>
              <a:t> </a:t>
            </a:r>
            <a:r>
              <a:rPr lang="en-US" sz="1100" dirty="0" err="1"/>
              <a:t>antara</a:t>
            </a:r>
            <a:r>
              <a:rPr lang="en-US" sz="1100" dirty="0"/>
              <a:t> versicolor &amp; virginica.</a:t>
            </a:r>
          </a:p>
          <a:p>
            <a:pPr>
              <a:buFont typeface="+mj-lt"/>
              <a:buAutoNum type="arabicPeriod"/>
            </a:pPr>
            <a:r>
              <a:rPr lang="en-US" sz="1100" dirty="0"/>
              <a:t>Fuzzy C-Means </a:t>
            </a:r>
            <a:r>
              <a:rPr lang="en-US" sz="1100" dirty="0" err="1"/>
              <a:t>berhasil</a:t>
            </a:r>
            <a:r>
              <a:rPr lang="en-US" sz="1100" dirty="0"/>
              <a:t> </a:t>
            </a:r>
            <a:r>
              <a:rPr lang="en-US" sz="1100" dirty="0" err="1"/>
              <a:t>memisahkan</a:t>
            </a:r>
            <a:r>
              <a:rPr lang="en-US" sz="1100" dirty="0"/>
              <a:t> cluster </a:t>
            </a:r>
            <a:r>
              <a:rPr lang="en-US" sz="1100" dirty="0" err="1"/>
              <a:t>setosa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sangat </a:t>
            </a:r>
            <a:r>
              <a:rPr lang="en-US" sz="1100" dirty="0" err="1"/>
              <a:t>baik</a:t>
            </a:r>
            <a:r>
              <a:rPr lang="en-US" sz="1100" dirty="0"/>
              <a:t>, </a:t>
            </a:r>
            <a:r>
              <a:rPr lang="en-US" sz="1100" dirty="0" err="1"/>
              <a:t>namun</a:t>
            </a:r>
            <a:r>
              <a:rPr lang="en-US" sz="1100" dirty="0"/>
              <a:t> overlap </a:t>
            </a:r>
            <a:r>
              <a:rPr lang="en-US" sz="1100" dirty="0" err="1"/>
              <a:t>antara</a:t>
            </a:r>
            <a:r>
              <a:rPr lang="en-US" sz="1100" dirty="0"/>
              <a:t> versicolor-virginica </a:t>
            </a:r>
            <a:r>
              <a:rPr lang="en-US" sz="1100" dirty="0" err="1"/>
              <a:t>menyebabkan</a:t>
            </a:r>
            <a:r>
              <a:rPr lang="en-US" sz="1100" dirty="0"/>
              <a:t> ARI 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100" dirty="0" err="1"/>
              <a:t>moderat</a:t>
            </a:r>
            <a:r>
              <a:rPr lang="en-US" sz="1100" dirty="0"/>
              <a:t> (0.63) — </a:t>
            </a:r>
            <a:r>
              <a:rPr lang="en-US" sz="1100" dirty="0" err="1"/>
              <a:t>mengonfirmasi</a:t>
            </a:r>
            <a:r>
              <a:rPr lang="en-US" sz="1100" dirty="0"/>
              <a:t> </a:t>
            </a:r>
            <a:r>
              <a:rPr lang="en-US" sz="1100" dirty="0" err="1"/>
              <a:t>kemiripan</a:t>
            </a:r>
            <a:r>
              <a:rPr lang="en-US" sz="1100" dirty="0"/>
              <a:t> </a:t>
            </a:r>
            <a:r>
              <a:rPr lang="en-US" sz="1100" dirty="0" err="1"/>
              <a:t>alami</a:t>
            </a:r>
            <a:r>
              <a:rPr lang="en-US" sz="1100" dirty="0"/>
              <a:t> </a:t>
            </a:r>
            <a:r>
              <a:rPr lang="en-US" sz="1100" dirty="0" err="1"/>
              <a:t>kedua</a:t>
            </a:r>
            <a:r>
              <a:rPr lang="en-US" sz="1100" dirty="0"/>
              <a:t> </a:t>
            </a:r>
            <a:r>
              <a:rPr lang="en-US" sz="1100" dirty="0" err="1"/>
              <a:t>spesies</a:t>
            </a:r>
            <a:r>
              <a:rPr lang="en-US" sz="1100" dirty="0"/>
              <a:t> </a:t>
            </a:r>
            <a:r>
              <a:rPr lang="en-US" sz="1100" dirty="0" err="1"/>
              <a:t>tersebut</a:t>
            </a:r>
            <a:r>
              <a:rPr lang="en-US" sz="11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100" dirty="0"/>
              <a:t>RapidMiner </a:t>
            </a:r>
            <a:r>
              <a:rPr lang="en-US" sz="1100" dirty="0" err="1"/>
              <a:t>menghasilkan</a:t>
            </a:r>
            <a:r>
              <a:rPr lang="en-US" sz="1100" dirty="0"/>
              <a:t> tree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sederhana</a:t>
            </a:r>
            <a:r>
              <a:rPr lang="en-US" sz="1100" dirty="0"/>
              <a:t> (pruning), Orange </a:t>
            </a:r>
            <a:r>
              <a:rPr lang="en-US" sz="1100" dirty="0" err="1"/>
              <a:t>menghasilkan</a:t>
            </a:r>
            <a:r>
              <a:rPr lang="en-US" sz="1100" dirty="0"/>
              <a:t> </a:t>
            </a:r>
            <a:r>
              <a:rPr lang="en-US" sz="1100" dirty="0" err="1"/>
              <a:t>akurasi</a:t>
            </a:r>
            <a:r>
              <a:rPr lang="en-US" sz="1100" dirty="0"/>
              <a:t> test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tinggi</a:t>
            </a:r>
            <a:r>
              <a:rPr lang="en-US" sz="1100" dirty="0"/>
              <a:t> </a:t>
            </a:r>
            <a:r>
              <a:rPr lang="en-US" sz="1100" dirty="0" err="1"/>
              <a:t>tapi</a:t>
            </a:r>
            <a:r>
              <a:rPr lang="en-US" sz="1100" dirty="0"/>
              <a:t> tree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kompleks</a:t>
            </a:r>
            <a:r>
              <a:rPr lang="en-US" sz="1100" dirty="0"/>
              <a:t> dan </a:t>
            </a:r>
            <a:r>
              <a:rPr lang="en-US" sz="1100" dirty="0" err="1"/>
              <a:t>berisiko</a:t>
            </a:r>
            <a:r>
              <a:rPr lang="en-US" sz="1100" dirty="0"/>
              <a:t> overfitting.</a:t>
            </a:r>
          </a:p>
          <a:p>
            <a:pPr>
              <a:buFont typeface="+mj-lt"/>
              <a:buAutoNum type="arabicPeriod"/>
            </a:pPr>
            <a:endParaRPr lang="en-US" sz="1100" dirty="0"/>
          </a:p>
          <a:p>
            <a:pPr marL="139700" indent="0">
              <a:buNone/>
            </a:pPr>
            <a:r>
              <a:rPr lang="en-US" sz="1100" dirty="0"/>
              <a:t>Insight yang </a:t>
            </a:r>
            <a:r>
              <a:rPr lang="en-US" sz="1100" dirty="0" err="1"/>
              <a:t>didapat</a:t>
            </a:r>
            <a:r>
              <a:rPr lang="en-US" sz="11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Fitur petal length &amp; petal width </a:t>
            </a:r>
            <a:r>
              <a:rPr lang="en-US" sz="1100" dirty="0" err="1"/>
              <a:t>jauh</a:t>
            </a:r>
            <a:r>
              <a:rPr lang="en-US" sz="1100" dirty="0"/>
              <a:t>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diskriminatif</a:t>
            </a:r>
            <a:r>
              <a:rPr lang="en-US" sz="1100" dirty="0"/>
              <a:t> </a:t>
            </a:r>
            <a:r>
              <a:rPr lang="en-US" sz="1100" dirty="0" err="1"/>
              <a:t>dibanding</a:t>
            </a:r>
            <a:r>
              <a:rPr lang="en-US" sz="1100" dirty="0"/>
              <a:t> </a:t>
            </a:r>
            <a:r>
              <a:rPr lang="en-US" sz="1100" dirty="0" err="1"/>
              <a:t>fitur</a:t>
            </a:r>
            <a:r>
              <a:rPr lang="en-US" sz="1100" dirty="0"/>
              <a:t> sepal, </a:t>
            </a:r>
            <a:r>
              <a:rPr lang="en-US" sz="1100" dirty="0" err="1"/>
              <a:t>konsisten</a:t>
            </a:r>
            <a:r>
              <a:rPr lang="en-US" sz="1100" dirty="0"/>
              <a:t> di </a:t>
            </a:r>
            <a:r>
              <a:rPr lang="en-US" sz="1100" dirty="0" err="1"/>
              <a:t>ketiga</a:t>
            </a:r>
            <a:r>
              <a:rPr lang="en-US" sz="1100" dirty="0"/>
              <a:t> task.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 err="1"/>
              <a:t>Kompleksitas</a:t>
            </a:r>
            <a:r>
              <a:rPr lang="en-US" sz="1100" dirty="0"/>
              <a:t> model (tree depth) </a:t>
            </a:r>
            <a:r>
              <a:rPr lang="en-US" sz="1100" dirty="0" err="1"/>
              <a:t>tidak</a:t>
            </a:r>
            <a:r>
              <a:rPr lang="en-US" sz="1100" dirty="0"/>
              <a:t> </a:t>
            </a:r>
            <a:r>
              <a:rPr lang="en-US" sz="1100" dirty="0" err="1"/>
              <a:t>selalu</a:t>
            </a:r>
            <a:r>
              <a:rPr lang="en-US" sz="1100" dirty="0"/>
              <a:t> </a:t>
            </a:r>
            <a:r>
              <a:rPr lang="en-US" sz="1100" dirty="0" err="1"/>
              <a:t>berbanding</a:t>
            </a:r>
            <a:r>
              <a:rPr lang="en-US" sz="1100" dirty="0"/>
              <a:t> </a:t>
            </a:r>
            <a:r>
              <a:rPr lang="en-US" sz="1100" dirty="0" err="1"/>
              <a:t>lurus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performa</a:t>
            </a:r>
            <a:r>
              <a:rPr lang="en-US" sz="1100" dirty="0"/>
              <a:t> </a:t>
            </a:r>
            <a:r>
              <a:rPr lang="en-US" sz="1100" dirty="0" err="1"/>
              <a:t>generalisasi</a:t>
            </a:r>
            <a:r>
              <a:rPr lang="en-US" sz="1100" dirty="0"/>
              <a:t> (CV mean).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Metode </a:t>
            </a:r>
            <a:r>
              <a:rPr lang="en-US" sz="1100" dirty="0" err="1"/>
              <a:t>berbasis</a:t>
            </a:r>
            <a:r>
              <a:rPr lang="en-US" sz="1100" dirty="0"/>
              <a:t> </a:t>
            </a:r>
            <a:r>
              <a:rPr lang="en-US" sz="1100" dirty="0" err="1"/>
              <a:t>jarak</a:t>
            </a:r>
            <a:r>
              <a:rPr lang="en-US" sz="1100" dirty="0"/>
              <a:t> (KNN, FCM) </a:t>
            </a:r>
            <a:r>
              <a:rPr lang="en-US" sz="1100" dirty="0" err="1"/>
              <a:t>sensitif</a:t>
            </a:r>
            <a:r>
              <a:rPr lang="en-US" sz="1100" dirty="0"/>
              <a:t> </a:t>
            </a:r>
            <a:r>
              <a:rPr lang="en-US" sz="1100" dirty="0" err="1"/>
              <a:t>terhadap</a:t>
            </a:r>
            <a:r>
              <a:rPr lang="en-US" sz="1100" dirty="0"/>
              <a:t> scaling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39700" indent="0">
              <a:buNone/>
            </a:pPr>
            <a:r>
              <a:rPr lang="en-US" sz="1100" dirty="0"/>
              <a:t>Saran / </a:t>
            </a:r>
            <a:r>
              <a:rPr lang="en-US" sz="1100" dirty="0" err="1"/>
              <a:t>Pengembangan</a:t>
            </a:r>
            <a:r>
              <a:rPr lang="en-US" sz="1100" dirty="0"/>
              <a:t> </a:t>
            </a:r>
            <a:r>
              <a:rPr lang="en-US" sz="1100" dirty="0" err="1"/>
              <a:t>Lanjutan</a:t>
            </a:r>
            <a:r>
              <a:rPr lang="en-US" sz="11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Coba </a:t>
            </a:r>
            <a:r>
              <a:rPr lang="en-US" sz="1100" dirty="0" err="1"/>
              <a:t>algoritma</a:t>
            </a:r>
            <a:r>
              <a:rPr lang="en-US" sz="1100" dirty="0"/>
              <a:t> lain (SVM, Naive Bayes) </a:t>
            </a:r>
            <a:r>
              <a:rPr lang="en-US" sz="1100" dirty="0" err="1"/>
              <a:t>sebagai</a:t>
            </a:r>
            <a:r>
              <a:rPr lang="en-US" sz="1100" dirty="0"/>
              <a:t> </a:t>
            </a:r>
            <a:r>
              <a:rPr lang="en-US" sz="1100" dirty="0" err="1"/>
              <a:t>pembanding</a:t>
            </a:r>
            <a:r>
              <a:rPr lang="en-US" sz="1100" dirty="0"/>
              <a:t> </a:t>
            </a:r>
            <a:r>
              <a:rPr lang="en-US" sz="1100" dirty="0" err="1"/>
              <a:t>tambahan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 err="1"/>
              <a:t>Gunakan</a:t>
            </a:r>
            <a:r>
              <a:rPr lang="en-US" sz="1100" dirty="0"/>
              <a:t> dataset yang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besar</a:t>
            </a:r>
            <a:r>
              <a:rPr lang="en-US" sz="1100" dirty="0"/>
              <a:t>/</a:t>
            </a:r>
            <a:r>
              <a:rPr lang="en-US" sz="1100" dirty="0" err="1"/>
              <a:t>kompleks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menguji</a:t>
            </a:r>
            <a:r>
              <a:rPr lang="en-US" sz="1100" dirty="0"/>
              <a:t> </a:t>
            </a:r>
            <a:r>
              <a:rPr lang="en-US" sz="1100" dirty="0" err="1"/>
              <a:t>skalabilitas</a:t>
            </a:r>
            <a:r>
              <a:rPr lang="en-US" sz="1100" dirty="0"/>
              <a:t> </a:t>
            </a:r>
            <a:r>
              <a:rPr lang="en-US" sz="1100" dirty="0" err="1"/>
              <a:t>metode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 err="1"/>
              <a:t>Terapkan</a:t>
            </a:r>
            <a:r>
              <a:rPr lang="en-US" sz="1100" dirty="0"/>
              <a:t> hyperparameter tuning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ekstensif</a:t>
            </a:r>
            <a:r>
              <a:rPr lang="en-US" sz="1100" dirty="0"/>
              <a:t> (</a:t>
            </a:r>
            <a:r>
              <a:rPr lang="en-US" sz="1100" dirty="0" err="1"/>
              <a:t>GridSearch</a:t>
            </a:r>
            <a:r>
              <a:rPr lang="en-US" sz="1100" dirty="0"/>
              <a:t>) pada Random Forest.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 err="1"/>
              <a:t>Eksplorasi</a:t>
            </a:r>
            <a:r>
              <a:rPr lang="en-US" sz="1100" dirty="0"/>
              <a:t> </a:t>
            </a:r>
            <a:r>
              <a:rPr lang="en-US" sz="1100" dirty="0" err="1"/>
              <a:t>teknik</a:t>
            </a:r>
            <a:r>
              <a:rPr lang="en-US" sz="1100" dirty="0"/>
              <a:t> dimensionality reduction (PCA) </a:t>
            </a:r>
            <a:r>
              <a:rPr lang="en-US" sz="1100" dirty="0" err="1"/>
              <a:t>sebelum</a:t>
            </a:r>
            <a:r>
              <a:rPr lang="en-US" sz="1100" dirty="0"/>
              <a:t> clustering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visualisasi</a:t>
            </a:r>
            <a:r>
              <a:rPr lang="en-US" sz="1100" dirty="0"/>
              <a:t> </a:t>
            </a:r>
            <a:r>
              <a:rPr lang="en-US" sz="1100" dirty="0" err="1"/>
              <a:t>lebih</a:t>
            </a:r>
            <a:r>
              <a:rPr lang="en-US" sz="1100" dirty="0"/>
              <a:t> </a:t>
            </a:r>
            <a:r>
              <a:rPr lang="en-US" sz="1100" dirty="0" err="1"/>
              <a:t>baik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519977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1235</Words>
  <Application>Microsoft Office PowerPoint</Application>
  <PresentationFormat>On-screen Show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Albert Sans</vt:lpstr>
      <vt:lpstr>Darker Grotesque SemiBold</vt:lpstr>
      <vt:lpstr>DM Sans</vt:lpstr>
      <vt:lpstr>Arial</vt:lpstr>
      <vt:lpstr>Viaoda Libre</vt:lpstr>
      <vt:lpstr>Minimal Gradient by Slidesgo</vt:lpstr>
      <vt:lpstr>Mini Project Kecerdasan Buatan: Perbandingan Algoritma Klasifikasi &amp; Clustering pada Dataset Iris</vt:lpstr>
      <vt:lpstr>Latar Belakang</vt:lpstr>
      <vt:lpstr>Deskripsi Dataset</vt:lpstr>
      <vt:lpstr>Preprocessing Data</vt:lpstr>
      <vt:lpstr>Metode / Algoritma yang Digunakan</vt:lpstr>
      <vt:lpstr>Proses Modeling</vt:lpstr>
      <vt:lpstr>Hasil &amp; Evaluasi Model - Task 1</vt:lpstr>
      <vt:lpstr>Hasil &amp; Evaluasi Model - Task 2 </vt:lpstr>
      <vt:lpstr>Hasil &amp; Evaluasi Model - Task 3 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Ronnan Robiantono</dc:creator>
  <cp:lastModifiedBy>Ronnan Robiantono</cp:lastModifiedBy>
  <cp:revision>1</cp:revision>
  <dcterms:modified xsi:type="dcterms:W3CDTF">2026-07-08T09:28:59Z</dcterms:modified>
</cp:coreProperties>
</file>